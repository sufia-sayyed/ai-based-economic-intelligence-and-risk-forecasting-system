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6" r:id="rId7"/>
    <p:sldId id="262" r:id="rId8"/>
    <p:sldId id="263" r:id="rId9"/>
    <p:sldId id="264" r:id="rId10"/>
    <p:sldId id="265" r:id="rId11"/>
  </p:sldIdLst>
  <p:sldSz cx="12192000" cy="6858000"/>
  <p:notesSz cx="6858000" cy="12192000"/>
  <p:embeddedFontLst>
    <p:embeddedFont>
      <p:font typeface="Cambria" panose="02040503050406030204" pitchFamily="18" charset="0"/>
      <p:regular r:id="rId13"/>
      <p:bold r:id="rId14"/>
      <p:italic r:id="rId15"/>
      <p:boldItalic r:id="rId16"/>
    </p:embeddedFont>
    <p:embeddedFont>
      <p:font typeface="Sora Light" panose="020B0604020202020204" charset="0"/>
      <p:regular r:id="rId17"/>
    </p:embeddedFont>
    <p:embeddedFont>
      <p:font typeface="Sora SemiBold" panose="020B0604020202020204" charset="0"/>
      <p:regular r:id="rId18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9C3C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3" d="100"/>
          <a:sy n="63" d="100"/>
        </p:scale>
        <p:origin x="780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436540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9.svg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png"/><Relationship Id="rId5" Type="http://schemas.openxmlformats.org/officeDocument/2006/relationships/image" Target="../media/image13.svg"/><Relationship Id="rId4" Type="http://schemas.openxmlformats.org/officeDocument/2006/relationships/image" Target="../media/image1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7" Type="http://schemas.openxmlformats.org/officeDocument/2006/relationships/image" Target="../media/image2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svg"/><Relationship Id="rId13" Type="http://schemas.openxmlformats.org/officeDocument/2006/relationships/image" Target="../media/image32.png"/><Relationship Id="rId18" Type="http://schemas.openxmlformats.org/officeDocument/2006/relationships/image" Target="../media/image37.svg"/><Relationship Id="rId3" Type="http://schemas.openxmlformats.org/officeDocument/2006/relationships/image" Target="../media/image22.png"/><Relationship Id="rId7" Type="http://schemas.openxmlformats.org/officeDocument/2006/relationships/image" Target="../media/image26.png"/><Relationship Id="rId12" Type="http://schemas.openxmlformats.org/officeDocument/2006/relationships/image" Target="../media/image31.svg"/><Relationship Id="rId17" Type="http://schemas.openxmlformats.org/officeDocument/2006/relationships/image" Target="../media/image36.png"/><Relationship Id="rId2" Type="http://schemas.openxmlformats.org/officeDocument/2006/relationships/notesSlide" Target="../notesSlides/notesSlide8.xml"/><Relationship Id="rId16" Type="http://schemas.openxmlformats.org/officeDocument/2006/relationships/image" Target="../media/image35.sv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5.svg"/><Relationship Id="rId11" Type="http://schemas.openxmlformats.org/officeDocument/2006/relationships/image" Target="../media/image30.png"/><Relationship Id="rId5" Type="http://schemas.openxmlformats.org/officeDocument/2006/relationships/image" Target="../media/image24.png"/><Relationship Id="rId15" Type="http://schemas.openxmlformats.org/officeDocument/2006/relationships/image" Target="../media/image34.png"/><Relationship Id="rId10" Type="http://schemas.openxmlformats.org/officeDocument/2006/relationships/image" Target="../media/image29.svg"/><Relationship Id="rId4" Type="http://schemas.openxmlformats.org/officeDocument/2006/relationships/image" Target="../media/image23.svg"/><Relationship Id="rId9" Type="http://schemas.openxmlformats.org/officeDocument/2006/relationships/image" Target="../media/image28.png"/><Relationship Id="rId14" Type="http://schemas.openxmlformats.org/officeDocument/2006/relationships/image" Target="../media/image33.sv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9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19809" y="0"/>
            <a:ext cx="4571886" cy="6858000"/>
          </a:xfrm>
          <a:prstGeom prst="rect">
            <a:avLst/>
          </a:prstGeom>
          <a:solidFill>
            <a:srgbClr val="F9D2D6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9997" y="135235"/>
            <a:ext cx="4391510" cy="658743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31908" y="1578173"/>
            <a:ext cx="6355993" cy="23756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1F1E1E"/>
                </a:solidFill>
                <a:latin typeface="Sora SemiBold" pitchFamily="34" charset="0"/>
                <a:ea typeface="Sora SemiBold" pitchFamily="34" charset="-122"/>
                <a:cs typeface="Sora SemiBold" pitchFamily="34" charset="-120"/>
              </a:rPr>
              <a:t>AI-Based Economic Intelligence and Risk Forecasting System for India</a:t>
            </a:r>
            <a:endParaRPr lang="en-US" sz="3700" dirty="0"/>
          </a:p>
        </p:txBody>
      </p:sp>
      <p:sp>
        <p:nvSpPr>
          <p:cNvPr id="5" name="Text 2"/>
          <p:cNvSpPr/>
          <p:nvPr/>
        </p:nvSpPr>
        <p:spPr>
          <a:xfrm>
            <a:off x="631908" y="4224635"/>
            <a:ext cx="6355993" cy="5778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 lnSpcReduction="10000"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600" i="1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Predictive Economic Analytics using Artificial Intelligence and Machine Learning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631908" y="5005586"/>
            <a:ext cx="1975991" cy="274241"/>
          </a:xfrm>
          <a:prstGeom prst="roundRect">
            <a:avLst>
              <a:gd name="adj" fmla="val 22121"/>
            </a:avLst>
          </a:prstGeom>
          <a:solidFill>
            <a:srgbClr val="F9D2D6"/>
          </a:solidFill>
          <a:ln/>
        </p:spPr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0153" y="5070475"/>
            <a:ext cx="144360" cy="144363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956643" y="5059660"/>
            <a:ext cx="2152596" cy="1660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1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ACADEMIC PROJECT</a:t>
            </a:r>
            <a:endParaRPr lang="en-US" sz="1100" dirty="0"/>
          </a:p>
        </p:txBody>
      </p:sp>
      <p:sp>
        <p:nvSpPr>
          <p:cNvPr id="9" name="Shape 5"/>
          <p:cNvSpPr/>
          <p:nvPr/>
        </p:nvSpPr>
        <p:spPr>
          <a:xfrm>
            <a:off x="2698087" y="5005586"/>
            <a:ext cx="1820023" cy="274241"/>
          </a:xfrm>
          <a:prstGeom prst="roundRect">
            <a:avLst>
              <a:gd name="adj" fmla="val 22121"/>
            </a:avLst>
          </a:prstGeom>
          <a:noFill/>
          <a:ln w="6350">
            <a:solidFill>
              <a:srgbClr val="DA1B2E"/>
            </a:solidFill>
            <a:prstDash val="solid"/>
          </a:ln>
        </p:spPr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06332" y="5070475"/>
            <a:ext cx="144360" cy="144363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3022822" y="5059660"/>
            <a:ext cx="1996628" cy="1660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100" dirty="0">
                <a:solidFill>
                  <a:srgbClr val="DA1B2E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50 YEARS OF DATA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31908" y="520303"/>
            <a:ext cx="10927878" cy="4732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200" dirty="0">
                <a:solidFill>
                  <a:srgbClr val="1F1E1E"/>
                </a:solidFill>
                <a:latin typeface="Sora SemiBold" pitchFamily="34" charset="0"/>
                <a:ea typeface="Sora SemiBold" pitchFamily="34" charset="-122"/>
                <a:cs typeface="Sora SemiBold" pitchFamily="34" charset="-120"/>
              </a:rPr>
              <a:t>Introduction</a:t>
            </a:r>
            <a:endParaRPr lang="en-US" sz="32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1908" y="1294408"/>
            <a:ext cx="3596590" cy="35966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462947" y="1207691"/>
            <a:ext cx="6682574" cy="17780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This project leverages </a:t>
            </a:r>
            <a:r>
              <a:rPr lang="en-US" b="1" dirty="0">
                <a:solidFill>
                  <a:srgbClr val="3B3535"/>
                </a:solidFill>
                <a:latin typeface="Sora Bold" pitchFamily="34" charset="0"/>
                <a:ea typeface="Sora Bold" pitchFamily="34" charset="-122"/>
                <a:cs typeface="Sora Bold" pitchFamily="34" charset="-120"/>
              </a:rPr>
              <a:t>Artificial Intelligence, Machine Learning, and Time Series Forecasting</a:t>
            </a:r>
            <a:r>
              <a:rPr lang="en-US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 to analyze India's economic performance using 50 years of historical data — generating forecasts, identifying risks, and delivering actionable intelligence for policymakers and analysts.</a:t>
            </a:r>
            <a:endParaRPr lang="en-US" dirty="0"/>
          </a:p>
        </p:txBody>
      </p:sp>
      <p:sp>
        <p:nvSpPr>
          <p:cNvPr id="5" name="Shape 2"/>
          <p:cNvSpPr/>
          <p:nvPr/>
        </p:nvSpPr>
        <p:spPr>
          <a:xfrm>
            <a:off x="631908" y="5148858"/>
            <a:ext cx="2645999" cy="537071"/>
          </a:xfrm>
          <a:prstGeom prst="roundRect">
            <a:avLst>
              <a:gd name="adj" fmla="val 11251"/>
            </a:avLst>
          </a:prstGeom>
          <a:solidFill>
            <a:srgbClr val="F9D2D6"/>
          </a:solidFill>
          <a:ln w="6350">
            <a:solidFill>
              <a:srgbClr val="DFB8BC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82122" y="5299075"/>
            <a:ext cx="2345572" cy="2366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dirty="0">
                <a:solidFill>
                  <a:srgbClr val="3B3535"/>
                </a:solidFill>
                <a:latin typeface="Sora SemiBold" pitchFamily="34" charset="0"/>
                <a:ea typeface="Sora SemiBold" pitchFamily="34" charset="-122"/>
                <a:cs typeface="Sora SemiBold" pitchFamily="34" charset="-120"/>
              </a:rPr>
              <a:t>GDP Growth</a:t>
            </a:r>
            <a:endParaRPr lang="en-US" sz="1450" dirty="0"/>
          </a:p>
        </p:txBody>
      </p:sp>
      <p:sp>
        <p:nvSpPr>
          <p:cNvPr id="7" name="Shape 4"/>
          <p:cNvSpPr/>
          <p:nvPr/>
        </p:nvSpPr>
        <p:spPr>
          <a:xfrm>
            <a:off x="3392502" y="5148858"/>
            <a:ext cx="2645999" cy="537071"/>
          </a:xfrm>
          <a:prstGeom prst="roundRect">
            <a:avLst>
              <a:gd name="adj" fmla="val 11251"/>
            </a:avLst>
          </a:prstGeom>
          <a:solidFill>
            <a:srgbClr val="F9D2D6"/>
          </a:solidFill>
          <a:ln w="6350">
            <a:solidFill>
              <a:srgbClr val="DFB8BC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542715" y="5299075"/>
            <a:ext cx="2345572" cy="2366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dirty="0">
                <a:solidFill>
                  <a:srgbClr val="3B3535"/>
                </a:solidFill>
                <a:latin typeface="Sora SemiBold" pitchFamily="34" charset="0"/>
                <a:ea typeface="Sora SemiBold" pitchFamily="34" charset="-122"/>
                <a:cs typeface="Sora SemiBold" pitchFamily="34" charset="-120"/>
              </a:rPr>
              <a:t>Inflation Rate</a:t>
            </a:r>
            <a:endParaRPr lang="en-US" sz="1450" dirty="0"/>
          </a:p>
        </p:txBody>
      </p:sp>
      <p:sp>
        <p:nvSpPr>
          <p:cNvPr id="9" name="Shape 6"/>
          <p:cNvSpPr/>
          <p:nvPr/>
        </p:nvSpPr>
        <p:spPr>
          <a:xfrm>
            <a:off x="6153095" y="5148858"/>
            <a:ext cx="2645999" cy="537071"/>
          </a:xfrm>
          <a:prstGeom prst="roundRect">
            <a:avLst>
              <a:gd name="adj" fmla="val 11251"/>
            </a:avLst>
          </a:prstGeom>
          <a:solidFill>
            <a:srgbClr val="F9D2D6"/>
          </a:solidFill>
          <a:ln w="6350">
            <a:solidFill>
              <a:srgbClr val="DFB8BC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303309" y="5299075"/>
            <a:ext cx="2345572" cy="2366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dirty="0">
                <a:solidFill>
                  <a:srgbClr val="3B3535"/>
                </a:solidFill>
                <a:latin typeface="Sora SemiBold" pitchFamily="34" charset="0"/>
                <a:ea typeface="Sora SemiBold" pitchFamily="34" charset="-122"/>
                <a:cs typeface="Sora SemiBold" pitchFamily="34" charset="-120"/>
              </a:rPr>
              <a:t>Unemployment</a:t>
            </a:r>
            <a:endParaRPr lang="en-US" sz="1450" dirty="0"/>
          </a:p>
        </p:txBody>
      </p:sp>
      <p:sp>
        <p:nvSpPr>
          <p:cNvPr id="11" name="Shape 8"/>
          <p:cNvSpPr/>
          <p:nvPr/>
        </p:nvSpPr>
        <p:spPr>
          <a:xfrm>
            <a:off x="8913689" y="5148858"/>
            <a:ext cx="2646098" cy="537071"/>
          </a:xfrm>
          <a:prstGeom prst="roundRect">
            <a:avLst>
              <a:gd name="adj" fmla="val 11251"/>
            </a:avLst>
          </a:prstGeom>
          <a:solidFill>
            <a:srgbClr val="F9D2D6"/>
          </a:solidFill>
          <a:ln w="6350">
            <a:solidFill>
              <a:srgbClr val="DFB8BC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9063902" y="5299075"/>
            <a:ext cx="2345671" cy="2366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dirty="0">
                <a:solidFill>
                  <a:srgbClr val="3B3535"/>
                </a:solidFill>
                <a:latin typeface="Sora SemiBold" pitchFamily="34" charset="0"/>
                <a:ea typeface="Sora SemiBold" pitchFamily="34" charset="-122"/>
                <a:cs typeface="Sora SemiBold" pitchFamily="34" charset="-120"/>
              </a:rPr>
              <a:t>Govt. Debt</a:t>
            </a:r>
            <a:endParaRPr lang="en-US" sz="1450" dirty="0"/>
          </a:p>
        </p:txBody>
      </p:sp>
      <p:sp>
        <p:nvSpPr>
          <p:cNvPr id="13" name="Shape 10"/>
          <p:cNvSpPr/>
          <p:nvPr/>
        </p:nvSpPr>
        <p:spPr>
          <a:xfrm>
            <a:off x="631908" y="5800527"/>
            <a:ext cx="3566230" cy="537071"/>
          </a:xfrm>
          <a:prstGeom prst="roundRect">
            <a:avLst>
              <a:gd name="adj" fmla="val 11251"/>
            </a:avLst>
          </a:prstGeom>
          <a:solidFill>
            <a:srgbClr val="F9D2D6"/>
          </a:solidFill>
          <a:ln w="6350">
            <a:solidFill>
              <a:srgbClr val="DFB8BC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782122" y="5950744"/>
            <a:ext cx="3265803" cy="2366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dirty="0">
                <a:solidFill>
                  <a:srgbClr val="3B3535"/>
                </a:solidFill>
                <a:latin typeface="Sora SemiBold" pitchFamily="34" charset="0"/>
                <a:ea typeface="Sora SemiBold" pitchFamily="34" charset="-122"/>
                <a:cs typeface="Sora SemiBold" pitchFamily="34" charset="-120"/>
              </a:rPr>
              <a:t>Trade Indicators</a:t>
            </a:r>
            <a:endParaRPr lang="en-US" sz="1450" dirty="0"/>
          </a:p>
        </p:txBody>
      </p:sp>
      <p:sp>
        <p:nvSpPr>
          <p:cNvPr id="15" name="Shape 12"/>
          <p:cNvSpPr/>
          <p:nvPr/>
        </p:nvSpPr>
        <p:spPr>
          <a:xfrm>
            <a:off x="4312733" y="5800527"/>
            <a:ext cx="3566230" cy="537071"/>
          </a:xfrm>
          <a:prstGeom prst="roundRect">
            <a:avLst>
              <a:gd name="adj" fmla="val 11251"/>
            </a:avLst>
          </a:prstGeom>
          <a:solidFill>
            <a:srgbClr val="F9D2D6"/>
          </a:solidFill>
          <a:ln w="6350">
            <a:solidFill>
              <a:srgbClr val="DFB8BC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462946" y="5950744"/>
            <a:ext cx="3265803" cy="2366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dirty="0">
                <a:solidFill>
                  <a:srgbClr val="3B3535"/>
                </a:solidFill>
                <a:latin typeface="Sora SemiBold" pitchFamily="34" charset="0"/>
                <a:ea typeface="Sora SemiBold" pitchFamily="34" charset="-122"/>
                <a:cs typeface="Sora SemiBold" pitchFamily="34" charset="-120"/>
              </a:rPr>
              <a:t>Population Metrics</a:t>
            </a:r>
            <a:endParaRPr lang="en-US" sz="1450" dirty="0"/>
          </a:p>
        </p:txBody>
      </p:sp>
      <p:sp>
        <p:nvSpPr>
          <p:cNvPr id="17" name="Shape 14"/>
          <p:cNvSpPr/>
          <p:nvPr/>
        </p:nvSpPr>
        <p:spPr>
          <a:xfrm>
            <a:off x="7993557" y="5800527"/>
            <a:ext cx="3566230" cy="537071"/>
          </a:xfrm>
          <a:prstGeom prst="roundRect">
            <a:avLst>
              <a:gd name="adj" fmla="val 11251"/>
            </a:avLst>
          </a:prstGeom>
          <a:solidFill>
            <a:srgbClr val="F9D2D6"/>
          </a:solidFill>
          <a:ln w="6350">
            <a:solidFill>
              <a:srgbClr val="DFB8BC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143770" y="5950744"/>
            <a:ext cx="3265803" cy="2366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dirty="0">
                <a:solidFill>
                  <a:srgbClr val="3B3535"/>
                </a:solidFill>
                <a:latin typeface="Sora SemiBold" pitchFamily="34" charset="0"/>
                <a:ea typeface="Sora SemiBold" pitchFamily="34" charset="-122"/>
                <a:cs typeface="Sora SemiBold" pitchFamily="34" charset="-120"/>
              </a:rPr>
              <a:t>Real Interest Rates</a:t>
            </a:r>
            <a:endParaRPr lang="en-US" sz="1450" dirty="0"/>
          </a:p>
        </p:txBody>
      </p:sp>
      <p:sp>
        <p:nvSpPr>
          <p:cNvPr id="19" name="Shape 3">
            <a:extLst>
              <a:ext uri="{FF2B5EF4-FFF2-40B4-BE49-F238E27FC236}">
                <a16:creationId xmlns:a16="http://schemas.microsoft.com/office/drawing/2014/main" id="{7BF4E560-57A6-22E9-A505-03C6BC12BA6B}"/>
              </a:ext>
            </a:extLst>
          </p:cNvPr>
          <p:cNvSpPr/>
          <p:nvPr/>
        </p:nvSpPr>
        <p:spPr>
          <a:xfrm>
            <a:off x="4439614" y="3307181"/>
            <a:ext cx="5943600" cy="502920"/>
          </a:xfrm>
          <a:prstGeom prst="roundRect">
            <a:avLst>
              <a:gd name="adj" fmla="val 10909"/>
            </a:avLst>
          </a:prstGeom>
          <a:solidFill>
            <a:srgbClr val="F2F3F5"/>
          </a:solidFill>
          <a:ln/>
        </p:spPr>
      </p:sp>
      <p:sp>
        <p:nvSpPr>
          <p:cNvPr id="20" name="Text 4">
            <a:extLst>
              <a:ext uri="{FF2B5EF4-FFF2-40B4-BE49-F238E27FC236}">
                <a16:creationId xmlns:a16="http://schemas.microsoft.com/office/drawing/2014/main" id="{5D8F09F8-16DF-820F-8450-AB1163BEB775}"/>
              </a:ext>
            </a:extLst>
          </p:cNvPr>
          <p:cNvSpPr txBox="1"/>
          <p:nvPr/>
        </p:nvSpPr>
        <p:spPr>
          <a:xfrm>
            <a:off x="4561435" y="3342800"/>
            <a:ext cx="262797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1F1E1E"/>
                </a:solidFill>
                <a:latin typeface="Sora SemiBold" pitchFamily="34" charset="0"/>
                <a:cs typeface="Sora SemiBold" pitchFamily="34" charset="-120"/>
              </a:rPr>
              <a:t>Objective</a:t>
            </a:r>
          </a:p>
        </p:txBody>
      </p:sp>
      <p:sp>
        <p:nvSpPr>
          <p:cNvPr id="21" name="Text 5">
            <a:extLst>
              <a:ext uri="{FF2B5EF4-FFF2-40B4-BE49-F238E27FC236}">
                <a16:creationId xmlns:a16="http://schemas.microsoft.com/office/drawing/2014/main" id="{118D9DF8-B65B-3EBF-FF1F-2E470DA6991C}"/>
              </a:ext>
            </a:extLst>
          </p:cNvPr>
          <p:cNvSpPr txBox="1"/>
          <p:nvPr/>
        </p:nvSpPr>
        <p:spPr>
          <a:xfrm>
            <a:off x="4462946" y="3673072"/>
            <a:ext cx="63465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3B3535"/>
                </a:solidFill>
                <a:latin typeface="Sora Light" pitchFamily="34" charset="0"/>
                <a:cs typeface="Sora Light" pitchFamily="34" charset="-120"/>
              </a:rPr>
              <a:t>Generate future forecasts, identify economic risks, and provide data-driven insights for decision-making.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1886" cy="6858000"/>
          </a:xfrm>
          <a:prstGeom prst="rect">
            <a:avLst/>
          </a:prstGeom>
          <a:solidFill>
            <a:srgbClr val="F9D2D6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321" y="109934"/>
            <a:ext cx="4425244" cy="663803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203794" y="496788"/>
            <a:ext cx="6355993" cy="4825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200" dirty="0">
                <a:solidFill>
                  <a:srgbClr val="1F1E1E"/>
                </a:solidFill>
                <a:latin typeface="Sora SemiBold" pitchFamily="34" charset="0"/>
                <a:ea typeface="Sora SemiBold" pitchFamily="34" charset="-122"/>
                <a:cs typeface="Sora SemiBold" pitchFamily="34" charset="-120"/>
              </a:rPr>
              <a:t>Problem Statement</a:t>
            </a:r>
            <a:endParaRPr lang="en-US" sz="3200" dirty="0"/>
          </a:p>
        </p:txBody>
      </p:sp>
      <p:sp>
        <p:nvSpPr>
          <p:cNvPr id="5" name="Text 2"/>
          <p:cNvSpPr/>
          <p:nvPr/>
        </p:nvSpPr>
        <p:spPr>
          <a:xfrm>
            <a:off x="5203794" y="1157982"/>
            <a:ext cx="6355993" cy="425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2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Economic conditions are shaped by multiple interconnected indicators. Traditional analysis methods fall short in today's dynamic environment.</a:t>
            </a:r>
            <a:endParaRPr lang="en-US" sz="12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203794" y="1717477"/>
            <a:ext cx="6355993" cy="856754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445683" y="1883172"/>
            <a:ext cx="5948412" cy="2412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3B3535"/>
                </a:solidFill>
                <a:latin typeface="Sora SemiBold" pitchFamily="34" charset="0"/>
                <a:ea typeface="Sora SemiBold" pitchFamily="34" charset="-122"/>
                <a:cs typeface="Sora SemiBold" pitchFamily="34" charset="-120"/>
              </a:rPr>
              <a:t>Manual Interpretation</a:t>
            </a:r>
            <a:endParaRPr lang="en-US" sz="1600" dirty="0"/>
          </a:p>
        </p:txBody>
      </p:sp>
      <p:sp>
        <p:nvSpPr>
          <p:cNvPr id="8" name="Text 4"/>
          <p:cNvSpPr/>
          <p:nvPr/>
        </p:nvSpPr>
        <p:spPr>
          <a:xfrm>
            <a:off x="5445683" y="2195810"/>
            <a:ext cx="5948412" cy="2127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2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Requires extensive human effort and is prone to cognitive bias.</a:t>
            </a:r>
            <a:endParaRPr lang="en-US" sz="120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203794" y="2693392"/>
            <a:ext cx="6355993" cy="856754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5445683" y="2859088"/>
            <a:ext cx="5948412" cy="2412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3B3535"/>
                </a:solidFill>
                <a:latin typeface="Sora SemiBold" pitchFamily="34" charset="0"/>
                <a:ea typeface="Sora SemiBold" pitchFamily="34" charset="-122"/>
                <a:cs typeface="Sora SemiBold" pitchFamily="34" charset="-120"/>
              </a:rPr>
              <a:t>Pattern Blindness</a:t>
            </a:r>
            <a:endParaRPr lang="en-US" sz="1600" dirty="0"/>
          </a:p>
        </p:txBody>
      </p:sp>
      <p:sp>
        <p:nvSpPr>
          <p:cNvPr id="11" name="Text 6"/>
          <p:cNvSpPr/>
          <p:nvPr/>
        </p:nvSpPr>
        <p:spPr>
          <a:xfrm>
            <a:off x="5445683" y="3171726"/>
            <a:ext cx="5948412" cy="2127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2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Struggles to detect long-term, cross-indicator trends.</a:t>
            </a:r>
            <a:endParaRPr lang="en-US" sz="120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203794" y="3669308"/>
            <a:ext cx="6355993" cy="856754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5445683" y="3835003"/>
            <a:ext cx="5948412" cy="2412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3B3535"/>
                </a:solidFill>
                <a:latin typeface="Sora SemiBold" pitchFamily="34" charset="0"/>
                <a:ea typeface="Sora SemiBold" pitchFamily="34" charset="-122"/>
                <a:cs typeface="Sora SemiBold" pitchFamily="34" charset="-120"/>
              </a:rPr>
              <a:t>No Predictive Power</a:t>
            </a:r>
            <a:endParaRPr lang="en-US" sz="1600" dirty="0"/>
          </a:p>
        </p:txBody>
      </p:sp>
      <p:sp>
        <p:nvSpPr>
          <p:cNvPr id="14" name="Text 8"/>
          <p:cNvSpPr/>
          <p:nvPr/>
        </p:nvSpPr>
        <p:spPr>
          <a:xfrm>
            <a:off x="5445683" y="4147641"/>
            <a:ext cx="5948412" cy="2127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2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Lacks the ability to forecast future economic conditions.</a:t>
            </a:r>
            <a:endParaRPr lang="en-US" sz="1200" dirty="0"/>
          </a:p>
        </p:txBody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203794" y="4645223"/>
            <a:ext cx="6355993" cy="856754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5445683" y="4810919"/>
            <a:ext cx="5948412" cy="2412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3B3535"/>
                </a:solidFill>
                <a:latin typeface="Sora SemiBold" pitchFamily="34" charset="0"/>
                <a:ea typeface="Sora SemiBold" pitchFamily="34" charset="-122"/>
                <a:cs typeface="Sora SemiBold" pitchFamily="34" charset="-120"/>
              </a:rPr>
              <a:t>Delayed Risk Detection</a:t>
            </a:r>
            <a:endParaRPr lang="en-US" sz="1600" dirty="0"/>
          </a:p>
        </p:txBody>
      </p:sp>
      <p:sp>
        <p:nvSpPr>
          <p:cNvPr id="17" name="Text 10"/>
          <p:cNvSpPr/>
          <p:nvPr/>
        </p:nvSpPr>
        <p:spPr>
          <a:xfrm>
            <a:off x="5445683" y="5123557"/>
            <a:ext cx="5948412" cy="2127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2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Early warning signals go unnoticed until damage is done.</a:t>
            </a:r>
            <a:endParaRPr lang="en-US" sz="1200" dirty="0"/>
          </a:p>
        </p:txBody>
      </p:sp>
      <p:sp>
        <p:nvSpPr>
          <p:cNvPr id="18" name="Shape 11"/>
          <p:cNvSpPr/>
          <p:nvPr/>
        </p:nvSpPr>
        <p:spPr>
          <a:xfrm>
            <a:off x="5203794" y="5636022"/>
            <a:ext cx="6355993" cy="725091"/>
          </a:xfrm>
          <a:prstGeom prst="roundRect">
            <a:avLst>
              <a:gd name="adj" fmla="val 8497"/>
            </a:avLst>
          </a:prstGeom>
          <a:solidFill>
            <a:srgbClr val="F9D2D6"/>
          </a:solidFill>
          <a:ln/>
        </p:spPr>
      </p:sp>
      <p:pic>
        <p:nvPicPr>
          <p:cNvPr id="19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50436" y="5803106"/>
            <a:ext cx="183352" cy="146645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5680429" y="5791795"/>
            <a:ext cx="5732716" cy="425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Sora Bold" pitchFamily="34" charset="0"/>
                <a:ea typeface="Sora Bold" pitchFamily="34" charset="-122"/>
                <a:cs typeface="Sora Bold" pitchFamily="34" charset="-120"/>
              </a:rPr>
              <a:t>The Need:</a:t>
            </a:r>
            <a:r>
              <a:rPr lang="en-US" sz="1200" dirty="0">
                <a:solidFill>
                  <a:srgbClr val="000000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 An intelligent, AI-driven system that forecasts trends and detects economic risks proactively.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618799" y="240095"/>
            <a:ext cx="3400241" cy="2968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1F1E1E"/>
                </a:solidFill>
                <a:latin typeface="Sora SemiBold" pitchFamily="34" charset="0"/>
                <a:ea typeface="Sora SemiBold" pitchFamily="34" charset="-122"/>
                <a:cs typeface="Sora SemiBold" pitchFamily="34" charset="-120"/>
              </a:rPr>
              <a:t>50 Years of Economic Data</a:t>
            </a:r>
            <a:endParaRPr lang="en-US" sz="18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rcRect l="4020" t="5251" r="4284" b="5584"/>
          <a:stretch>
            <a:fillRect/>
          </a:stretch>
        </p:blipFill>
        <p:spPr>
          <a:xfrm>
            <a:off x="471926" y="725546"/>
            <a:ext cx="5624074" cy="5469017"/>
          </a:xfrm>
          <a:prstGeom prst="rect">
            <a:avLst/>
          </a:prstGeom>
        </p:spPr>
      </p:pic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65741" y="6369794"/>
            <a:ext cx="135331" cy="135334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925192" y="6367066"/>
            <a:ext cx="3311740" cy="1484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00" dirty="0">
                <a:solidFill>
                  <a:srgbClr val="3B3535"/>
                </a:solidFill>
                <a:latin typeface="Sora SemiBold" pitchFamily="34" charset="0"/>
                <a:ea typeface="Sora SemiBold" pitchFamily="34" charset="-122"/>
                <a:cs typeface="Sora SemiBold" pitchFamily="34" charset="-120"/>
              </a:rPr>
              <a:t>Multi-dimensional indicators</a:t>
            </a:r>
            <a:endParaRPr lang="en-US" sz="90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327119" y="6369794"/>
            <a:ext cx="135331" cy="135334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4586570" y="6367066"/>
            <a:ext cx="3311740" cy="1484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00" dirty="0">
                <a:solidFill>
                  <a:srgbClr val="3B3535"/>
                </a:solidFill>
                <a:latin typeface="Sora SemiBold" pitchFamily="34" charset="0"/>
                <a:ea typeface="Sora SemiBold" pitchFamily="34" charset="-122"/>
                <a:cs typeface="Sora SemiBold" pitchFamily="34" charset="-120"/>
              </a:rPr>
              <a:t>Long-term historical trends</a:t>
            </a:r>
            <a:endParaRPr lang="en-US" sz="90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988497" y="6369794"/>
            <a:ext cx="135331" cy="135334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8247948" y="6367066"/>
            <a:ext cx="3311839" cy="1484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00" dirty="0">
                <a:solidFill>
                  <a:srgbClr val="3B3535"/>
                </a:solidFill>
                <a:latin typeface="Sora SemiBold" pitchFamily="34" charset="0"/>
                <a:ea typeface="Sora SemiBold" pitchFamily="34" charset="-122"/>
                <a:cs typeface="Sora SemiBold" pitchFamily="34" charset="-120"/>
              </a:rPr>
              <a:t>Suitable for ML &amp; forecasting</a:t>
            </a:r>
            <a:endParaRPr lang="en-US" sz="900" dirty="0"/>
          </a:p>
        </p:txBody>
      </p:sp>
      <p:sp>
        <p:nvSpPr>
          <p:cNvPr id="12" name="Shape 27">
            <a:extLst>
              <a:ext uri="{FF2B5EF4-FFF2-40B4-BE49-F238E27FC236}">
                <a16:creationId xmlns:a16="http://schemas.microsoft.com/office/drawing/2014/main" id="{F9795324-C54E-1F65-6DC1-56CD997A9C22}"/>
              </a:ext>
            </a:extLst>
          </p:cNvPr>
          <p:cNvSpPr/>
          <p:nvPr/>
        </p:nvSpPr>
        <p:spPr>
          <a:xfrm>
            <a:off x="7082738" y="1086260"/>
            <a:ext cx="4398061" cy="4044539"/>
          </a:xfrm>
          <a:prstGeom prst="roundRect">
            <a:avLst>
              <a:gd name="adj" fmla="val 2254"/>
            </a:avLst>
          </a:prstGeom>
          <a:solidFill>
            <a:srgbClr val="F9C3C3"/>
          </a:solidFill>
          <a:ln/>
        </p:spPr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BC86AFFD-6F44-9D38-509E-941317593552}"/>
              </a:ext>
            </a:extLst>
          </p:cNvPr>
          <p:cNvGrpSpPr/>
          <p:nvPr/>
        </p:nvGrpSpPr>
        <p:grpSpPr>
          <a:xfrm>
            <a:off x="7397698" y="1311564"/>
            <a:ext cx="3818941" cy="3464559"/>
            <a:chOff x="8001000" y="3200400"/>
            <a:chExt cx="3383280" cy="2350008"/>
          </a:xfrm>
        </p:grpSpPr>
        <p:sp>
          <p:nvSpPr>
            <p:cNvPr id="13" name="Text 29">
              <a:extLst>
                <a:ext uri="{FF2B5EF4-FFF2-40B4-BE49-F238E27FC236}">
                  <a16:creationId xmlns:a16="http://schemas.microsoft.com/office/drawing/2014/main" id="{69A287A6-E04D-9152-2CFC-FD313E1A1A96}"/>
                </a:ext>
              </a:extLst>
            </p:cNvPr>
            <p:cNvSpPr txBox="1"/>
            <p:nvPr/>
          </p:nvSpPr>
          <p:spPr>
            <a:xfrm>
              <a:off x="8641080" y="3246120"/>
              <a:ext cx="2743200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2000" b="1" kern="0" spc="100" dirty="0">
                  <a:latin typeface="Sora Bold"/>
                  <a:ea typeface="Calibri" pitchFamily="34" charset="-122"/>
                  <a:cs typeface="Sora Light" panose="020B0604020202020204" charset="0"/>
                </a:rPr>
                <a:t>CHARACTERISTICS</a:t>
              </a:r>
              <a:endParaRPr lang="en-US" dirty="0">
                <a:latin typeface="Sora Bold"/>
                <a:cs typeface="Sora Light" panose="020B0604020202020204" charset="0"/>
              </a:endParaRPr>
            </a:p>
          </p:txBody>
        </p:sp>
        <p:sp>
          <p:nvSpPr>
            <p:cNvPr id="14" name="Shape 28">
              <a:extLst>
                <a:ext uri="{FF2B5EF4-FFF2-40B4-BE49-F238E27FC236}">
                  <a16:creationId xmlns:a16="http://schemas.microsoft.com/office/drawing/2014/main" id="{78C5DF42-981C-D9B5-6B96-4829CCCC4FA5}"/>
                </a:ext>
              </a:extLst>
            </p:cNvPr>
            <p:cNvSpPr/>
            <p:nvPr/>
          </p:nvSpPr>
          <p:spPr>
            <a:xfrm>
              <a:off x="8001000" y="3200400"/>
              <a:ext cx="502920" cy="502920"/>
            </a:xfrm>
            <a:prstGeom prst="ellipse">
              <a:avLst/>
            </a:prstGeom>
            <a:solidFill>
              <a:srgbClr val="C9A227"/>
            </a:solidFill>
            <a:ln/>
          </p:spPr>
        </p:sp>
        <p:pic>
          <p:nvPicPr>
            <p:cNvPr id="15" name="Image 1" descr="/home/claude/aiproj/icons/check_navy.png">
              <a:extLst>
                <a:ext uri="{FF2B5EF4-FFF2-40B4-BE49-F238E27FC236}">
                  <a16:creationId xmlns:a16="http://schemas.microsoft.com/office/drawing/2014/main" id="{E0433AA8-B560-8F15-02BD-4A3E297EEDAE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8131759" y="3331159"/>
              <a:ext cx="241402" cy="241402"/>
            </a:xfrm>
            <a:prstGeom prst="rect">
              <a:avLst/>
            </a:prstGeom>
          </p:spPr>
        </p:pic>
        <p:sp>
          <p:nvSpPr>
            <p:cNvPr id="16" name="Shape 28">
              <a:extLst>
                <a:ext uri="{FF2B5EF4-FFF2-40B4-BE49-F238E27FC236}">
                  <a16:creationId xmlns:a16="http://schemas.microsoft.com/office/drawing/2014/main" id="{A65C5B5B-A1BD-EF17-4F6E-A3C25DDC1817}"/>
                </a:ext>
              </a:extLst>
            </p:cNvPr>
            <p:cNvSpPr/>
            <p:nvPr/>
          </p:nvSpPr>
          <p:spPr>
            <a:xfrm>
              <a:off x="8001000" y="3200400"/>
              <a:ext cx="502920" cy="502920"/>
            </a:xfrm>
            <a:prstGeom prst="ellipse">
              <a:avLst/>
            </a:prstGeom>
            <a:solidFill>
              <a:srgbClr val="C9A227"/>
            </a:solidFill>
            <a:ln/>
          </p:spPr>
        </p:sp>
        <p:pic>
          <p:nvPicPr>
            <p:cNvPr id="17" name="Image 1" descr="/home/claude/aiproj/icons/check_navy.png">
              <a:extLst>
                <a:ext uri="{FF2B5EF4-FFF2-40B4-BE49-F238E27FC236}">
                  <a16:creationId xmlns:a16="http://schemas.microsoft.com/office/drawing/2014/main" id="{C86D63D2-4C87-05F0-4CC7-AE29F2AA4D0C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8131759" y="3331159"/>
              <a:ext cx="241402" cy="241402"/>
            </a:xfrm>
            <a:prstGeom prst="rect">
              <a:avLst/>
            </a:prstGeom>
          </p:spPr>
        </p:pic>
        <p:sp>
          <p:nvSpPr>
            <p:cNvPr id="19" name="Text 30">
              <a:extLst>
                <a:ext uri="{FF2B5EF4-FFF2-40B4-BE49-F238E27FC236}">
                  <a16:creationId xmlns:a16="http://schemas.microsoft.com/office/drawing/2014/main" id="{1AA0D47B-DE7D-5935-5DD9-6CEBC40F942F}"/>
                </a:ext>
              </a:extLst>
            </p:cNvPr>
            <p:cNvSpPr txBox="1"/>
            <p:nvPr/>
          </p:nvSpPr>
          <p:spPr>
            <a:xfrm>
              <a:off x="8046720" y="3931920"/>
              <a:ext cx="3200400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dirty="0">
                  <a:latin typeface="Sora Light" panose="020B0604020202020204" charset="0"/>
                  <a:ea typeface="Calibri" pitchFamily="34" charset="-122"/>
                  <a:cs typeface="Sora Light" panose="020B0604020202020204" charset="0"/>
                </a:rPr>
                <a:t>•  Multi-dimensional economic indicators</a:t>
              </a:r>
              <a:endParaRPr lang="en-US" dirty="0">
                <a:latin typeface="Sora Light" panose="020B0604020202020204" charset="0"/>
                <a:cs typeface="Sora Light" panose="020B0604020202020204" charset="0"/>
              </a:endParaRPr>
            </a:p>
          </p:txBody>
        </p:sp>
        <p:sp>
          <p:nvSpPr>
            <p:cNvPr id="20" name="Text 31">
              <a:extLst>
                <a:ext uri="{FF2B5EF4-FFF2-40B4-BE49-F238E27FC236}">
                  <a16:creationId xmlns:a16="http://schemas.microsoft.com/office/drawing/2014/main" id="{C95F7D4F-A020-C7BA-A90F-DF1BFBC4848D}"/>
                </a:ext>
              </a:extLst>
            </p:cNvPr>
            <p:cNvSpPr txBox="1"/>
            <p:nvPr/>
          </p:nvSpPr>
          <p:spPr>
            <a:xfrm>
              <a:off x="8046720" y="4343400"/>
              <a:ext cx="3200400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dirty="0">
                  <a:latin typeface="Sora Light" panose="020B0604020202020204" charset="0"/>
                  <a:ea typeface="Calibri" pitchFamily="34" charset="-122"/>
                  <a:cs typeface="Sora Light" panose="020B0604020202020204" charset="0"/>
                </a:rPr>
                <a:t>•  Long-term historical trends</a:t>
              </a:r>
              <a:endParaRPr lang="en-US" dirty="0">
                <a:latin typeface="Sora Light" panose="020B0604020202020204" charset="0"/>
                <a:cs typeface="Sora Light" panose="020B0604020202020204" charset="0"/>
              </a:endParaRPr>
            </a:p>
          </p:txBody>
        </p:sp>
        <p:sp>
          <p:nvSpPr>
            <p:cNvPr id="21" name="Text 32">
              <a:extLst>
                <a:ext uri="{FF2B5EF4-FFF2-40B4-BE49-F238E27FC236}">
                  <a16:creationId xmlns:a16="http://schemas.microsoft.com/office/drawing/2014/main" id="{C8B56DDA-267B-F388-70C4-6E5AFCB15B83}"/>
                </a:ext>
              </a:extLst>
            </p:cNvPr>
            <p:cNvSpPr txBox="1"/>
            <p:nvPr/>
          </p:nvSpPr>
          <p:spPr>
            <a:xfrm>
              <a:off x="8046720" y="4754880"/>
              <a:ext cx="3200400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dirty="0">
                  <a:latin typeface="Sora Light" panose="020B0604020202020204" charset="0"/>
                  <a:ea typeface="Calibri" pitchFamily="34" charset="-122"/>
                  <a:cs typeface="Sora Light" panose="020B0604020202020204" charset="0"/>
                </a:rPr>
                <a:t>•  Suitable for predictive modeling</a:t>
              </a:r>
              <a:endParaRPr lang="en-US" dirty="0">
                <a:latin typeface="Sora Light" panose="020B0604020202020204" charset="0"/>
                <a:cs typeface="Sora Light" panose="020B0604020202020204" charset="0"/>
              </a:endParaRPr>
            </a:p>
          </p:txBody>
        </p:sp>
        <p:sp>
          <p:nvSpPr>
            <p:cNvPr id="22" name="Text 33">
              <a:extLst>
                <a:ext uri="{FF2B5EF4-FFF2-40B4-BE49-F238E27FC236}">
                  <a16:creationId xmlns:a16="http://schemas.microsoft.com/office/drawing/2014/main" id="{5020B116-CF64-90FD-FA15-CCCBB92411A6}"/>
                </a:ext>
              </a:extLst>
            </p:cNvPr>
            <p:cNvSpPr txBox="1"/>
            <p:nvPr/>
          </p:nvSpPr>
          <p:spPr>
            <a:xfrm>
              <a:off x="8046720" y="5166360"/>
              <a:ext cx="3200400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dirty="0">
                  <a:latin typeface="Sora Light" panose="020B0604020202020204" charset="0"/>
                  <a:ea typeface="Calibri" pitchFamily="34" charset="-122"/>
                  <a:cs typeface="Sora Light" panose="020B0604020202020204" charset="0"/>
                </a:rPr>
                <a:t>•  Suitable for economic analysis</a:t>
              </a:r>
              <a:endParaRPr lang="en-US" dirty="0">
                <a:latin typeface="Sora Light" panose="020B0604020202020204" charset="0"/>
                <a:cs typeface="Sora Light" panose="020B0604020202020204" charset="0"/>
              </a:endParaRP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31908" y="496491"/>
            <a:ext cx="10927878" cy="2968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200" dirty="0">
                <a:solidFill>
                  <a:srgbClr val="1F1E1E"/>
                </a:solidFill>
                <a:latin typeface="Sora SemiBold" pitchFamily="34" charset="0"/>
                <a:ea typeface="Sora SemiBold" pitchFamily="34" charset="-122"/>
                <a:cs typeface="Sora SemiBold" pitchFamily="34" charset="-120"/>
              </a:rPr>
              <a:t>Project Workflow &amp; Architecture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31908" y="1025882"/>
            <a:ext cx="11927954" cy="6589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A structured, end-to-end pipeline transforms raw economic data into interactive intelligence — </a:t>
            </a:r>
          </a:p>
          <a:p>
            <a:pPr marL="0" indent="0" algn="l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from ingestion to insight.</a:t>
            </a:r>
            <a:endParaRPr lang="en-US" sz="1600" b="1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rcRect t="16172" b="17307"/>
          <a:stretch>
            <a:fillRect/>
          </a:stretch>
        </p:blipFill>
        <p:spPr>
          <a:xfrm>
            <a:off x="0" y="1536105"/>
            <a:ext cx="12096669" cy="4320223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2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&amp; FRAMEWORKS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1F4B"/>
                </a:solidFill>
                <a:latin typeface="Sora SemiBold" panose="020B0604020202020204" charset="0"/>
                <a:ea typeface="Cambria" pitchFamily="34" charset="-122"/>
                <a:cs typeface="Sora SemiBold" panose="020B0604020202020204" charset="0"/>
              </a:rPr>
              <a:t>Technology Stack</a:t>
            </a:r>
            <a:endParaRPr lang="en-US" sz="3200" dirty="0">
              <a:latin typeface="Sora SemiBold" panose="020B0604020202020204" charset="0"/>
              <a:cs typeface="Sora SemiBold" panose="020B0604020202020204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3502152" cy="1691640"/>
          </a:xfrm>
          <a:prstGeom prst="roundRect">
            <a:avLst>
              <a:gd name="adj" fmla="val 4324"/>
            </a:avLst>
          </a:prstGeom>
          <a:solidFill>
            <a:srgbClr val="F2F3F5"/>
          </a:solidFill>
          <a:ln/>
        </p:spPr>
      </p:sp>
      <p:sp>
        <p:nvSpPr>
          <p:cNvPr id="5" name="Shape 3"/>
          <p:cNvSpPr/>
          <p:nvPr/>
        </p:nvSpPr>
        <p:spPr>
          <a:xfrm>
            <a:off x="868680" y="1856232"/>
            <a:ext cx="548640" cy="548640"/>
          </a:xfrm>
          <a:prstGeom prst="ellipse">
            <a:avLst/>
          </a:prstGeom>
          <a:solidFill>
            <a:srgbClr val="0B1F4B"/>
          </a:solidFill>
          <a:ln/>
        </p:spPr>
      </p:sp>
      <p:pic>
        <p:nvPicPr>
          <p:cNvPr id="6" name="Image 0" descr="/home/claude/aiproj/icons/code_gol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1326" y="1998878"/>
            <a:ext cx="263347" cy="263347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868680" y="2514600"/>
            <a:ext cx="3044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5A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PROGRAMMING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868680" y="2807208"/>
            <a:ext cx="30449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B1F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Python</a:t>
            </a:r>
            <a:endParaRPr lang="en-US" dirty="0"/>
          </a:p>
        </p:txBody>
      </p:sp>
      <p:sp>
        <p:nvSpPr>
          <p:cNvPr id="9" name="Shape 6"/>
          <p:cNvSpPr/>
          <p:nvPr/>
        </p:nvSpPr>
        <p:spPr>
          <a:xfrm>
            <a:off x="4325112" y="1600200"/>
            <a:ext cx="3502152" cy="1691640"/>
          </a:xfrm>
          <a:prstGeom prst="roundRect">
            <a:avLst>
              <a:gd name="adj" fmla="val 4324"/>
            </a:avLst>
          </a:prstGeom>
          <a:solidFill>
            <a:srgbClr val="F2F3F5"/>
          </a:solidFill>
          <a:ln/>
        </p:spPr>
      </p:sp>
      <p:sp>
        <p:nvSpPr>
          <p:cNvPr id="10" name="Shape 7"/>
          <p:cNvSpPr/>
          <p:nvPr/>
        </p:nvSpPr>
        <p:spPr>
          <a:xfrm>
            <a:off x="4553712" y="1856232"/>
            <a:ext cx="548640" cy="548640"/>
          </a:xfrm>
          <a:prstGeom prst="ellipse">
            <a:avLst/>
          </a:prstGeom>
          <a:solidFill>
            <a:srgbClr val="0B1F4B"/>
          </a:solidFill>
          <a:ln/>
        </p:spPr>
      </p:sp>
      <p:pic>
        <p:nvPicPr>
          <p:cNvPr id="11" name="Image 1" descr="/home/claude/aiproj/icons/desktop_gol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96358" y="1998878"/>
            <a:ext cx="263347" cy="263347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4553712" y="2514600"/>
            <a:ext cx="3044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5A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200" dirty="0"/>
          </a:p>
        </p:txBody>
      </p:sp>
      <p:sp>
        <p:nvSpPr>
          <p:cNvPr id="13" name="Text 9"/>
          <p:cNvSpPr txBox="1"/>
          <p:nvPr/>
        </p:nvSpPr>
        <p:spPr>
          <a:xfrm>
            <a:off x="4553712" y="2807208"/>
            <a:ext cx="30449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B1F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Streamlit</a:t>
            </a:r>
            <a:endParaRPr lang="en-US" dirty="0"/>
          </a:p>
        </p:txBody>
      </p:sp>
      <p:sp>
        <p:nvSpPr>
          <p:cNvPr id="14" name="Shape 10"/>
          <p:cNvSpPr/>
          <p:nvPr/>
        </p:nvSpPr>
        <p:spPr>
          <a:xfrm>
            <a:off x="8010144" y="1600200"/>
            <a:ext cx="3502152" cy="1691640"/>
          </a:xfrm>
          <a:prstGeom prst="roundRect">
            <a:avLst>
              <a:gd name="adj" fmla="val 4324"/>
            </a:avLst>
          </a:prstGeom>
          <a:solidFill>
            <a:srgbClr val="F2F3F5"/>
          </a:solidFill>
          <a:ln/>
        </p:spPr>
      </p:sp>
      <p:sp>
        <p:nvSpPr>
          <p:cNvPr id="15" name="Shape 11"/>
          <p:cNvSpPr/>
          <p:nvPr/>
        </p:nvSpPr>
        <p:spPr>
          <a:xfrm>
            <a:off x="8238744" y="1856232"/>
            <a:ext cx="548640" cy="548640"/>
          </a:xfrm>
          <a:prstGeom prst="ellipse">
            <a:avLst/>
          </a:prstGeom>
          <a:solidFill>
            <a:srgbClr val="0B1F4B"/>
          </a:solidFill>
          <a:ln/>
        </p:spPr>
      </p:sp>
      <p:pic>
        <p:nvPicPr>
          <p:cNvPr id="16" name="Image 2" descr="/home/claude/aiproj/icons/tools_gol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81390" y="1998878"/>
            <a:ext cx="263347" cy="263347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8238744" y="2514600"/>
            <a:ext cx="3044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5A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 ENVIRONMENT</a:t>
            </a:r>
            <a:endParaRPr lang="en-US" sz="1050" dirty="0"/>
          </a:p>
        </p:txBody>
      </p:sp>
      <p:sp>
        <p:nvSpPr>
          <p:cNvPr id="18" name="Text 13"/>
          <p:cNvSpPr txBox="1"/>
          <p:nvPr/>
        </p:nvSpPr>
        <p:spPr>
          <a:xfrm>
            <a:off x="8238744" y="2807208"/>
            <a:ext cx="30449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1F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VS Code</a:t>
            </a:r>
            <a:endParaRPr lang="en-US" sz="1500" dirty="0"/>
          </a:p>
        </p:txBody>
      </p:sp>
      <p:sp>
        <p:nvSpPr>
          <p:cNvPr id="19" name="Shape 14"/>
          <p:cNvSpPr/>
          <p:nvPr/>
        </p:nvSpPr>
        <p:spPr>
          <a:xfrm>
            <a:off x="662940" y="3461511"/>
            <a:ext cx="6309360" cy="2651760"/>
          </a:xfrm>
          <a:prstGeom prst="roundRect">
            <a:avLst>
              <a:gd name="adj" fmla="val 2759"/>
            </a:avLst>
          </a:prstGeom>
          <a:solidFill>
            <a:srgbClr val="F9C3C3"/>
          </a:solidFill>
          <a:ln/>
        </p:spPr>
      </p:sp>
      <p:sp>
        <p:nvSpPr>
          <p:cNvPr id="20" name="Shape 15"/>
          <p:cNvSpPr/>
          <p:nvPr/>
        </p:nvSpPr>
        <p:spPr>
          <a:xfrm>
            <a:off x="868680" y="3730752"/>
            <a:ext cx="502920" cy="502920"/>
          </a:xfrm>
          <a:prstGeom prst="ellipse">
            <a:avLst/>
          </a:prstGeom>
          <a:solidFill>
            <a:srgbClr val="F9C3C3"/>
          </a:solidFill>
          <a:ln/>
        </p:spPr>
      </p:sp>
      <p:pic>
        <p:nvPicPr>
          <p:cNvPr id="21" name="Image 3" descr="/home/claude/aiproj/icons/layer_navy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99439" y="3861511"/>
            <a:ext cx="241402" cy="241402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1508760" y="37947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kern="0" spc="15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CORE LIBRARIES</a:t>
            </a:r>
            <a:endParaRPr lang="en-US" dirty="0"/>
          </a:p>
        </p:txBody>
      </p:sp>
      <p:sp>
        <p:nvSpPr>
          <p:cNvPr id="23" name="Shape 17"/>
          <p:cNvSpPr/>
          <p:nvPr/>
        </p:nvSpPr>
        <p:spPr>
          <a:xfrm>
            <a:off x="868680" y="4434840"/>
            <a:ext cx="1874520" cy="502920"/>
          </a:xfrm>
          <a:prstGeom prst="roundRect">
            <a:avLst>
              <a:gd name="adj" fmla="val 49091"/>
            </a:avLst>
          </a:prstGeom>
          <a:solidFill>
            <a:srgbClr val="132A5E"/>
          </a:solidFill>
          <a:ln w="12700">
            <a:solidFill>
              <a:srgbClr val="2A4380"/>
            </a:solidFill>
            <a:prstDash val="solid"/>
          </a:ln>
        </p:spPr>
      </p:sp>
      <p:sp>
        <p:nvSpPr>
          <p:cNvPr id="24" name="Text 18"/>
          <p:cNvSpPr txBox="1"/>
          <p:nvPr/>
        </p:nvSpPr>
        <p:spPr>
          <a:xfrm>
            <a:off x="868680" y="4434840"/>
            <a:ext cx="1874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</a:t>
            </a:r>
            <a:endParaRPr lang="en-US" sz="1600" dirty="0"/>
          </a:p>
        </p:txBody>
      </p:sp>
      <p:sp>
        <p:nvSpPr>
          <p:cNvPr id="25" name="Shape 19"/>
          <p:cNvSpPr/>
          <p:nvPr/>
        </p:nvSpPr>
        <p:spPr>
          <a:xfrm>
            <a:off x="2880360" y="4434840"/>
            <a:ext cx="1874520" cy="502920"/>
          </a:xfrm>
          <a:prstGeom prst="roundRect">
            <a:avLst>
              <a:gd name="adj" fmla="val 49091"/>
            </a:avLst>
          </a:prstGeom>
          <a:solidFill>
            <a:srgbClr val="132A5E"/>
          </a:solidFill>
          <a:ln w="12700">
            <a:solidFill>
              <a:srgbClr val="2A4380"/>
            </a:solidFill>
            <a:prstDash val="solid"/>
          </a:ln>
        </p:spPr>
      </p:sp>
      <p:sp>
        <p:nvSpPr>
          <p:cNvPr id="26" name="Text 20"/>
          <p:cNvSpPr txBox="1"/>
          <p:nvPr/>
        </p:nvSpPr>
        <p:spPr>
          <a:xfrm>
            <a:off x="2880360" y="4434840"/>
            <a:ext cx="1874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NumPy</a:t>
            </a:r>
            <a:endParaRPr lang="en-US" sz="1600" dirty="0"/>
          </a:p>
        </p:txBody>
      </p:sp>
      <p:sp>
        <p:nvSpPr>
          <p:cNvPr id="27" name="Shape 21"/>
          <p:cNvSpPr/>
          <p:nvPr/>
        </p:nvSpPr>
        <p:spPr>
          <a:xfrm>
            <a:off x="4892040" y="4434840"/>
            <a:ext cx="1874520" cy="502920"/>
          </a:xfrm>
          <a:prstGeom prst="roundRect">
            <a:avLst>
              <a:gd name="adj" fmla="val 49091"/>
            </a:avLst>
          </a:prstGeom>
          <a:solidFill>
            <a:srgbClr val="132A5E"/>
          </a:solidFill>
          <a:ln w="12700">
            <a:solidFill>
              <a:srgbClr val="2A4380"/>
            </a:solidFill>
            <a:prstDash val="solid"/>
          </a:ln>
        </p:spPr>
      </p:sp>
      <p:sp>
        <p:nvSpPr>
          <p:cNvPr id="28" name="Text 22"/>
          <p:cNvSpPr txBox="1"/>
          <p:nvPr/>
        </p:nvSpPr>
        <p:spPr>
          <a:xfrm>
            <a:off x="4892040" y="4434840"/>
            <a:ext cx="1874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Matplotlib</a:t>
            </a:r>
            <a:endParaRPr lang="en-US" sz="1600" dirty="0"/>
          </a:p>
        </p:txBody>
      </p:sp>
      <p:sp>
        <p:nvSpPr>
          <p:cNvPr id="29" name="Shape 23"/>
          <p:cNvSpPr/>
          <p:nvPr/>
        </p:nvSpPr>
        <p:spPr>
          <a:xfrm>
            <a:off x="868680" y="5093208"/>
            <a:ext cx="1874520" cy="502920"/>
          </a:xfrm>
          <a:prstGeom prst="roundRect">
            <a:avLst>
              <a:gd name="adj" fmla="val 49091"/>
            </a:avLst>
          </a:prstGeom>
          <a:solidFill>
            <a:srgbClr val="132A5E"/>
          </a:solidFill>
          <a:ln w="12700">
            <a:solidFill>
              <a:srgbClr val="2A4380"/>
            </a:solidFill>
            <a:prstDash val="solid"/>
          </a:ln>
        </p:spPr>
      </p:sp>
      <p:sp>
        <p:nvSpPr>
          <p:cNvPr id="30" name="Text 24"/>
          <p:cNvSpPr txBox="1"/>
          <p:nvPr/>
        </p:nvSpPr>
        <p:spPr>
          <a:xfrm>
            <a:off x="868680" y="5093208"/>
            <a:ext cx="1874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Scikit-Learn</a:t>
            </a:r>
            <a:endParaRPr lang="en-US" sz="1600" dirty="0"/>
          </a:p>
        </p:txBody>
      </p:sp>
      <p:sp>
        <p:nvSpPr>
          <p:cNvPr id="31" name="Shape 25"/>
          <p:cNvSpPr/>
          <p:nvPr/>
        </p:nvSpPr>
        <p:spPr>
          <a:xfrm>
            <a:off x="2880360" y="5093208"/>
            <a:ext cx="1874520" cy="502920"/>
          </a:xfrm>
          <a:prstGeom prst="roundRect">
            <a:avLst>
              <a:gd name="adj" fmla="val 49091"/>
            </a:avLst>
          </a:prstGeom>
          <a:solidFill>
            <a:srgbClr val="132A5E"/>
          </a:solidFill>
          <a:ln w="12700">
            <a:solidFill>
              <a:srgbClr val="2A4380"/>
            </a:solidFill>
            <a:prstDash val="solid"/>
          </a:ln>
        </p:spPr>
      </p:sp>
      <p:sp>
        <p:nvSpPr>
          <p:cNvPr id="32" name="Text 26"/>
          <p:cNvSpPr txBox="1"/>
          <p:nvPr/>
        </p:nvSpPr>
        <p:spPr>
          <a:xfrm>
            <a:off x="2880360" y="5093208"/>
            <a:ext cx="1874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Statsmodels</a:t>
            </a:r>
            <a:endParaRPr lang="en-US" sz="1600" dirty="0"/>
          </a:p>
        </p:txBody>
      </p:sp>
      <p:sp>
        <p:nvSpPr>
          <p:cNvPr id="33" name="Shape 27"/>
          <p:cNvSpPr/>
          <p:nvPr/>
        </p:nvSpPr>
        <p:spPr>
          <a:xfrm>
            <a:off x="4892040" y="5093208"/>
            <a:ext cx="1874520" cy="502920"/>
          </a:xfrm>
          <a:prstGeom prst="roundRect">
            <a:avLst>
              <a:gd name="adj" fmla="val 49091"/>
            </a:avLst>
          </a:prstGeom>
          <a:solidFill>
            <a:srgbClr val="132A5E"/>
          </a:solidFill>
          <a:ln w="12700">
            <a:solidFill>
              <a:srgbClr val="2A4380"/>
            </a:solidFill>
            <a:prstDash val="solid"/>
          </a:ln>
        </p:spPr>
      </p:sp>
      <p:sp>
        <p:nvSpPr>
          <p:cNvPr id="34" name="Text 28"/>
          <p:cNvSpPr txBox="1"/>
          <p:nvPr/>
        </p:nvSpPr>
        <p:spPr>
          <a:xfrm>
            <a:off x="4892040" y="5093208"/>
            <a:ext cx="1874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</a:t>
            </a:r>
            <a:endParaRPr lang="en-US" sz="1600" dirty="0"/>
          </a:p>
        </p:txBody>
      </p:sp>
      <p:sp>
        <p:nvSpPr>
          <p:cNvPr id="35" name="Shape 29"/>
          <p:cNvSpPr/>
          <p:nvPr/>
        </p:nvSpPr>
        <p:spPr>
          <a:xfrm>
            <a:off x="7190638" y="3474720"/>
            <a:ext cx="4480560" cy="2651760"/>
          </a:xfrm>
          <a:prstGeom prst="roundRect">
            <a:avLst>
              <a:gd name="adj" fmla="val 2759"/>
            </a:avLst>
          </a:prstGeom>
          <a:solidFill>
            <a:srgbClr val="F2F3F5"/>
          </a:solidFill>
          <a:ln/>
        </p:spPr>
      </p:sp>
      <p:sp>
        <p:nvSpPr>
          <p:cNvPr id="36" name="Shape 30"/>
          <p:cNvSpPr/>
          <p:nvPr/>
        </p:nvSpPr>
        <p:spPr>
          <a:xfrm>
            <a:off x="7360920" y="3730752"/>
            <a:ext cx="502920" cy="502920"/>
          </a:xfrm>
          <a:prstGeom prst="ellipse">
            <a:avLst/>
          </a:prstGeom>
          <a:solidFill>
            <a:srgbClr val="0B1F4B"/>
          </a:solidFill>
          <a:ln/>
        </p:spPr>
      </p:sp>
      <p:pic>
        <p:nvPicPr>
          <p:cNvPr id="37" name="Image 4" descr="/home/claude/aiproj/icons/brain_gol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491679" y="3861511"/>
            <a:ext cx="241402" cy="241402"/>
          </a:xfrm>
          <a:prstGeom prst="rect">
            <a:avLst/>
          </a:prstGeom>
        </p:spPr>
      </p:pic>
      <p:sp>
        <p:nvSpPr>
          <p:cNvPr id="38" name="Text 31"/>
          <p:cNvSpPr txBox="1"/>
          <p:nvPr/>
        </p:nvSpPr>
        <p:spPr>
          <a:xfrm>
            <a:off x="8001000" y="37947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150" dirty="0">
                <a:solidFill>
                  <a:srgbClr val="0B1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TECHNIQUES</a:t>
            </a:r>
            <a:endParaRPr lang="en-US" sz="1200" dirty="0"/>
          </a:p>
        </p:txBody>
      </p:sp>
      <p:sp>
        <p:nvSpPr>
          <p:cNvPr id="39" name="Text 32"/>
          <p:cNvSpPr txBox="1"/>
          <p:nvPr/>
        </p:nvSpPr>
        <p:spPr>
          <a:xfrm>
            <a:off x="7360920" y="443484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Machine Learning</a:t>
            </a:r>
            <a:endParaRPr lang="en-US" sz="1600" dirty="0"/>
          </a:p>
        </p:txBody>
      </p:sp>
      <p:sp>
        <p:nvSpPr>
          <p:cNvPr id="40" name="Text 33"/>
          <p:cNvSpPr txBox="1"/>
          <p:nvPr/>
        </p:nvSpPr>
        <p:spPr>
          <a:xfrm>
            <a:off x="7360920" y="4837176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Time Series Forecasting</a:t>
            </a:r>
            <a:endParaRPr lang="en-US" sz="1600" dirty="0"/>
          </a:p>
        </p:txBody>
      </p:sp>
      <p:sp>
        <p:nvSpPr>
          <p:cNvPr id="41" name="Text 34"/>
          <p:cNvSpPr txBox="1"/>
          <p:nvPr/>
        </p:nvSpPr>
        <p:spPr>
          <a:xfrm>
            <a:off x="7360920" y="5239512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Economic Analytics</a:t>
            </a:r>
            <a:endParaRPr lang="en-US" sz="1600" dirty="0"/>
          </a:p>
        </p:txBody>
      </p:sp>
      <p:sp>
        <p:nvSpPr>
          <p:cNvPr id="42" name="Text 35"/>
          <p:cNvSpPr txBox="1"/>
          <p:nvPr/>
        </p:nvSpPr>
        <p:spPr>
          <a:xfrm>
            <a:off x="7360920" y="5641848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Data Visualization</a:t>
            </a:r>
            <a:endParaRPr lang="en-US" sz="1600" dirty="0"/>
          </a:p>
        </p:txBody>
      </p:sp>
      <p:sp>
        <p:nvSpPr>
          <p:cNvPr id="43" name="Text 36"/>
          <p:cNvSpPr txBox="1"/>
          <p:nvPr/>
        </p:nvSpPr>
        <p:spPr>
          <a:xfrm>
            <a:off x="457200" y="64008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 spc="100" dirty="0">
                <a:solidFill>
                  <a:srgbClr val="A6AD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ECONOMIC INTELLIGENCE  |  RISK FORECASTING SYSTEM</a:t>
            </a:r>
            <a:endParaRPr lang="en-US" sz="900" dirty="0"/>
          </a:p>
        </p:txBody>
      </p:sp>
      <p:sp>
        <p:nvSpPr>
          <p:cNvPr id="44" name="Text 37"/>
          <p:cNvSpPr txBox="1"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31908" y="496491"/>
            <a:ext cx="10927878" cy="2968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200" dirty="0">
                <a:solidFill>
                  <a:srgbClr val="1F1E1E"/>
                </a:solidFill>
                <a:latin typeface="Sora SemiBold" pitchFamily="34" charset="0"/>
                <a:ea typeface="Sora SemiBold" pitchFamily="34" charset="-122"/>
                <a:cs typeface="Sora SemiBold" pitchFamily="34" charset="-120"/>
              </a:rPr>
              <a:t>Machine Learning &amp; </a:t>
            </a:r>
          </a:p>
          <a:p>
            <a:pPr marL="0" indent="0" algn="l">
              <a:lnSpc>
                <a:spcPct val="104000"/>
              </a:lnSpc>
              <a:buNone/>
            </a:pPr>
            <a:r>
              <a:rPr lang="en-US" sz="3200" dirty="0">
                <a:solidFill>
                  <a:srgbClr val="1F1E1E"/>
                </a:solidFill>
                <a:latin typeface="Sora SemiBold" pitchFamily="34" charset="0"/>
                <a:ea typeface="Sora SemiBold" pitchFamily="34" charset="-122"/>
                <a:cs typeface="Sora SemiBold" pitchFamily="34" charset="-120"/>
              </a:rPr>
              <a:t>Forecasting Models</a:t>
            </a:r>
            <a:endParaRPr lang="en-US" sz="32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rcRect l="5845" t="3877" r="5371" b="4707"/>
          <a:stretch>
            <a:fillRect/>
          </a:stretch>
        </p:blipFill>
        <p:spPr>
          <a:xfrm>
            <a:off x="5791200" y="405051"/>
            <a:ext cx="6018408" cy="569095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31908" y="2401946"/>
            <a:ext cx="5353809" cy="3250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dirty="0">
                <a:solidFill>
                  <a:srgbClr val="1F1E1E"/>
                </a:solidFill>
                <a:latin typeface="Sora SemiBold" pitchFamily="34" charset="0"/>
                <a:ea typeface="Sora SemiBold" pitchFamily="34" charset="-122"/>
                <a:cs typeface="Sora SemiBold" pitchFamily="34" charset="-120"/>
              </a:rPr>
              <a:t>Why Multiple Models?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631908" y="2704029"/>
            <a:ext cx="4364233" cy="12547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6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Diverse modeling approaches ensure robustness. Time series models capture temporal dynamics, regression models estimate continuous outcomes, and classifiers categorize economic states — together forming a comprehensive analytical engine.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631908" y="6367066"/>
            <a:ext cx="3612564" cy="354211"/>
          </a:xfrm>
          <a:prstGeom prst="roundRect">
            <a:avLst>
              <a:gd name="adj" fmla="val 10704"/>
            </a:avLst>
          </a:prstGeom>
          <a:solidFill>
            <a:srgbClr val="FFFFFF"/>
          </a:solidFill>
          <a:ln w="12700">
            <a:solidFill>
              <a:srgbClr val="DFB8BC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34796" y="6469955"/>
            <a:ext cx="3406789" cy="1484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dirty="0">
                <a:solidFill>
                  <a:srgbClr val="3B3535"/>
                </a:solidFill>
                <a:latin typeface="Sora SemiBold" pitchFamily="34" charset="0"/>
                <a:ea typeface="Sora SemiBold" pitchFamily="34" charset="-122"/>
                <a:cs typeface="Sora SemiBold" pitchFamily="34" charset="-120"/>
              </a:rPr>
              <a:t>Forecast Future Indicators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4289516" y="6367066"/>
            <a:ext cx="3612564" cy="354211"/>
          </a:xfrm>
          <a:prstGeom prst="roundRect">
            <a:avLst>
              <a:gd name="adj" fmla="val 10704"/>
            </a:avLst>
          </a:prstGeom>
          <a:solidFill>
            <a:srgbClr val="FFFFFF"/>
          </a:solidFill>
          <a:ln w="12700">
            <a:solidFill>
              <a:srgbClr val="DFB8BC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392403" y="6469955"/>
            <a:ext cx="3406789" cy="1484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dirty="0">
                <a:solidFill>
                  <a:srgbClr val="3B3535"/>
                </a:solidFill>
                <a:latin typeface="Sora SemiBold" pitchFamily="34" charset="0"/>
                <a:ea typeface="Sora SemiBold" pitchFamily="34" charset="-122"/>
                <a:cs typeface="Sora SemiBold" pitchFamily="34" charset="-120"/>
              </a:rPr>
              <a:t>Analyze Economic Conditions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7947124" y="6367066"/>
            <a:ext cx="3612564" cy="354211"/>
          </a:xfrm>
          <a:prstGeom prst="roundRect">
            <a:avLst>
              <a:gd name="adj" fmla="val 10704"/>
            </a:avLst>
          </a:prstGeom>
          <a:solidFill>
            <a:srgbClr val="FFFFFF"/>
          </a:solidFill>
          <a:ln w="12700">
            <a:solidFill>
              <a:srgbClr val="DFB8BC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050011" y="6469955"/>
            <a:ext cx="3406789" cy="1484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dirty="0">
                <a:solidFill>
                  <a:srgbClr val="3B3535"/>
                </a:solidFill>
                <a:latin typeface="Sora SemiBold" pitchFamily="34" charset="0"/>
                <a:ea typeface="Sora SemiBold" pitchFamily="34" charset="-122"/>
                <a:cs typeface="Sora SemiBold" pitchFamily="34" charset="-120"/>
              </a:rPr>
              <a:t>Support Policy Decisions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31908" y="501352"/>
            <a:ext cx="10927878" cy="4361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00" dirty="0">
                <a:solidFill>
                  <a:srgbClr val="1F1E1E"/>
                </a:solidFill>
                <a:latin typeface="Sora SemiBold" pitchFamily="34" charset="0"/>
                <a:ea typeface="Sora SemiBold" pitchFamily="34" charset="-122"/>
                <a:cs typeface="Sora SemiBold" pitchFamily="34" charset="-120"/>
              </a:rPr>
              <a:t>System Features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631908" y="1132185"/>
            <a:ext cx="5415224" cy="1233091"/>
          </a:xfrm>
          <a:prstGeom prst="roundRect">
            <a:avLst>
              <a:gd name="adj" fmla="val 4516"/>
            </a:avLst>
          </a:prstGeom>
          <a:solidFill>
            <a:srgbClr val="F9D2D6"/>
          </a:solidFill>
          <a:ln w="6350">
            <a:solidFill>
              <a:srgbClr val="DFB8B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0811" y="1271091"/>
            <a:ext cx="397758" cy="397768"/>
          </a:xfrm>
          <a:prstGeom prst="ellipse">
            <a:avLst/>
          </a:prstGeom>
          <a:solidFill>
            <a:srgbClr val="DA1B2E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80148" y="1380430"/>
            <a:ext cx="178986" cy="178991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70811" y="1766193"/>
            <a:ext cx="5137418" cy="2179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3B3535"/>
                </a:solidFill>
                <a:latin typeface="Sora SemiBold" pitchFamily="34" charset="0"/>
                <a:ea typeface="Sora SemiBold" pitchFamily="34" charset="-122"/>
                <a:cs typeface="Sora SemiBold" pitchFamily="34" charset="-120"/>
              </a:rPr>
              <a:t>GDP Forecasting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770811" y="2042517"/>
            <a:ext cx="5137418" cy="1838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10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Multi-year GDP growth projections using ARIMA and XGBoost.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6144463" y="1132185"/>
            <a:ext cx="5415323" cy="1233091"/>
          </a:xfrm>
          <a:prstGeom prst="roundRect">
            <a:avLst>
              <a:gd name="adj" fmla="val 4516"/>
            </a:avLst>
          </a:prstGeom>
          <a:solidFill>
            <a:srgbClr val="F9D2D6"/>
          </a:solidFill>
          <a:ln w="6350">
            <a:solidFill>
              <a:srgbClr val="DFB8BC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6283366" y="1271091"/>
            <a:ext cx="397758" cy="397768"/>
          </a:xfrm>
          <a:prstGeom prst="ellipse">
            <a:avLst/>
          </a:prstGeom>
          <a:solidFill>
            <a:srgbClr val="DA1B2E"/>
          </a:solidFill>
          <a:ln/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392703" y="1380430"/>
            <a:ext cx="178986" cy="178991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6283366" y="1766193"/>
            <a:ext cx="5137518" cy="2179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3B3535"/>
                </a:solidFill>
                <a:latin typeface="Sora SemiBold" pitchFamily="34" charset="0"/>
                <a:ea typeface="Sora SemiBold" pitchFamily="34" charset="-122"/>
                <a:cs typeface="Sora SemiBold" pitchFamily="34" charset="-120"/>
              </a:rPr>
              <a:t>Inflation Forecasting</a:t>
            </a:r>
            <a:endParaRPr lang="en-US" sz="1350" dirty="0"/>
          </a:p>
        </p:txBody>
      </p:sp>
      <p:sp>
        <p:nvSpPr>
          <p:cNvPr id="12" name="Text 8"/>
          <p:cNvSpPr/>
          <p:nvPr/>
        </p:nvSpPr>
        <p:spPr>
          <a:xfrm>
            <a:off x="6283366" y="2042517"/>
            <a:ext cx="5137518" cy="1838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10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Consumer price trend prediction for policy planning.</a:t>
            </a:r>
            <a:endParaRPr lang="en-US" sz="1000" dirty="0"/>
          </a:p>
        </p:txBody>
      </p:sp>
      <p:sp>
        <p:nvSpPr>
          <p:cNvPr id="13" name="Shape 9"/>
          <p:cNvSpPr/>
          <p:nvPr/>
        </p:nvSpPr>
        <p:spPr>
          <a:xfrm>
            <a:off x="631908" y="2462609"/>
            <a:ext cx="5415224" cy="1233091"/>
          </a:xfrm>
          <a:prstGeom prst="roundRect">
            <a:avLst>
              <a:gd name="adj" fmla="val 4516"/>
            </a:avLst>
          </a:prstGeom>
          <a:solidFill>
            <a:srgbClr val="F9D2D6"/>
          </a:solidFill>
          <a:ln w="6350">
            <a:solidFill>
              <a:srgbClr val="DFB8BC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770811" y="2601516"/>
            <a:ext cx="397758" cy="397768"/>
          </a:xfrm>
          <a:prstGeom prst="ellipse">
            <a:avLst/>
          </a:prstGeom>
          <a:solidFill>
            <a:srgbClr val="DA1B2E"/>
          </a:solidFill>
          <a:ln/>
        </p:spPr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80148" y="2710855"/>
            <a:ext cx="178986" cy="178991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770811" y="3096617"/>
            <a:ext cx="5137418" cy="2179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3B3535"/>
                </a:solidFill>
                <a:latin typeface="Sora SemiBold" pitchFamily="34" charset="0"/>
                <a:ea typeface="Sora SemiBold" pitchFamily="34" charset="-122"/>
                <a:cs typeface="Sora SemiBold" pitchFamily="34" charset="-120"/>
              </a:rPr>
              <a:t>Unemployment Forecasting</a:t>
            </a:r>
            <a:endParaRPr lang="en-US" sz="1350" dirty="0"/>
          </a:p>
        </p:txBody>
      </p:sp>
      <p:sp>
        <p:nvSpPr>
          <p:cNvPr id="17" name="Text 12"/>
          <p:cNvSpPr/>
          <p:nvPr/>
        </p:nvSpPr>
        <p:spPr>
          <a:xfrm>
            <a:off x="770811" y="3372941"/>
            <a:ext cx="5137418" cy="1838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10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Labor market trend analysis and risk signals.</a:t>
            </a:r>
            <a:endParaRPr lang="en-US" sz="1000" dirty="0"/>
          </a:p>
        </p:txBody>
      </p:sp>
      <p:sp>
        <p:nvSpPr>
          <p:cNvPr id="18" name="Shape 13"/>
          <p:cNvSpPr/>
          <p:nvPr/>
        </p:nvSpPr>
        <p:spPr>
          <a:xfrm>
            <a:off x="6144463" y="2462609"/>
            <a:ext cx="5415323" cy="1233091"/>
          </a:xfrm>
          <a:prstGeom prst="roundRect">
            <a:avLst>
              <a:gd name="adj" fmla="val 4516"/>
            </a:avLst>
          </a:prstGeom>
          <a:solidFill>
            <a:srgbClr val="F9D2D6"/>
          </a:solidFill>
          <a:ln w="6350">
            <a:solidFill>
              <a:srgbClr val="DFB8BC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6283366" y="2601516"/>
            <a:ext cx="397758" cy="397768"/>
          </a:xfrm>
          <a:prstGeom prst="ellipse">
            <a:avLst/>
          </a:prstGeom>
          <a:solidFill>
            <a:srgbClr val="DA1B2E"/>
          </a:solidFill>
          <a:ln/>
        </p:spPr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392703" y="2710855"/>
            <a:ext cx="178986" cy="178991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6283366" y="3096617"/>
            <a:ext cx="5137518" cy="2179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3B3535"/>
                </a:solidFill>
                <a:latin typeface="Sora SemiBold" pitchFamily="34" charset="0"/>
                <a:ea typeface="Sora SemiBold" pitchFamily="34" charset="-122"/>
                <a:cs typeface="Sora SemiBold" pitchFamily="34" charset="-120"/>
              </a:rPr>
              <a:t>Economic Health Index</a:t>
            </a:r>
            <a:endParaRPr lang="en-US" sz="1350" dirty="0"/>
          </a:p>
        </p:txBody>
      </p:sp>
      <p:sp>
        <p:nvSpPr>
          <p:cNvPr id="22" name="Text 16"/>
          <p:cNvSpPr/>
          <p:nvPr/>
        </p:nvSpPr>
        <p:spPr>
          <a:xfrm>
            <a:off x="6283366" y="3372941"/>
            <a:ext cx="5137518" cy="1838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10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Composite EHI score for overall economic assessment.</a:t>
            </a:r>
            <a:endParaRPr lang="en-US" sz="1000" dirty="0"/>
          </a:p>
        </p:txBody>
      </p:sp>
      <p:sp>
        <p:nvSpPr>
          <p:cNvPr id="23" name="Shape 17"/>
          <p:cNvSpPr/>
          <p:nvPr/>
        </p:nvSpPr>
        <p:spPr>
          <a:xfrm>
            <a:off x="631908" y="3793034"/>
            <a:ext cx="5415224" cy="1233091"/>
          </a:xfrm>
          <a:prstGeom prst="roundRect">
            <a:avLst>
              <a:gd name="adj" fmla="val 4516"/>
            </a:avLst>
          </a:prstGeom>
          <a:solidFill>
            <a:srgbClr val="F9D2D6"/>
          </a:solidFill>
          <a:ln w="6350">
            <a:solidFill>
              <a:srgbClr val="DFB8BC"/>
            </a:solidFill>
            <a:prstDash val="solid"/>
          </a:ln>
        </p:spPr>
      </p:sp>
      <p:sp>
        <p:nvSpPr>
          <p:cNvPr id="24" name="Shape 18"/>
          <p:cNvSpPr/>
          <p:nvPr/>
        </p:nvSpPr>
        <p:spPr>
          <a:xfrm>
            <a:off x="770811" y="3931940"/>
            <a:ext cx="397758" cy="397768"/>
          </a:xfrm>
          <a:prstGeom prst="ellipse">
            <a:avLst/>
          </a:prstGeom>
          <a:solidFill>
            <a:srgbClr val="DA1B2E"/>
          </a:solidFill>
          <a:ln/>
        </p:spPr>
      </p:sp>
      <p:pic>
        <p:nvPicPr>
          <p:cNvPr id="25" name="Image 4" descr="preencoded.png"/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880148" y="4041279"/>
            <a:ext cx="178986" cy="178991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770811" y="4427041"/>
            <a:ext cx="5137418" cy="2179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3B3535"/>
                </a:solidFill>
                <a:latin typeface="Sora SemiBold" pitchFamily="34" charset="0"/>
                <a:ea typeface="Sora SemiBold" pitchFamily="34" charset="-122"/>
                <a:cs typeface="Sora SemiBold" pitchFamily="34" charset="-120"/>
              </a:rPr>
              <a:t>Condition Classification</a:t>
            </a:r>
            <a:endParaRPr lang="en-US" sz="1350" dirty="0"/>
          </a:p>
        </p:txBody>
      </p:sp>
      <p:sp>
        <p:nvSpPr>
          <p:cNvPr id="27" name="Text 20"/>
          <p:cNvSpPr/>
          <p:nvPr/>
        </p:nvSpPr>
        <p:spPr>
          <a:xfrm>
            <a:off x="770811" y="4703366"/>
            <a:ext cx="5137418" cy="1838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10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Automated labeling of economic states: stable, stressed, or critical.</a:t>
            </a:r>
            <a:endParaRPr lang="en-US" sz="1000" dirty="0"/>
          </a:p>
        </p:txBody>
      </p:sp>
      <p:sp>
        <p:nvSpPr>
          <p:cNvPr id="28" name="Shape 21"/>
          <p:cNvSpPr/>
          <p:nvPr/>
        </p:nvSpPr>
        <p:spPr>
          <a:xfrm>
            <a:off x="6144463" y="3793034"/>
            <a:ext cx="5415323" cy="1233091"/>
          </a:xfrm>
          <a:prstGeom prst="roundRect">
            <a:avLst>
              <a:gd name="adj" fmla="val 4516"/>
            </a:avLst>
          </a:prstGeom>
          <a:solidFill>
            <a:srgbClr val="F9D2D6"/>
          </a:solidFill>
          <a:ln w="6350">
            <a:solidFill>
              <a:srgbClr val="DFB8BC"/>
            </a:solidFill>
            <a:prstDash val="solid"/>
          </a:ln>
        </p:spPr>
      </p:sp>
      <p:sp>
        <p:nvSpPr>
          <p:cNvPr id="29" name="Shape 22"/>
          <p:cNvSpPr/>
          <p:nvPr/>
        </p:nvSpPr>
        <p:spPr>
          <a:xfrm>
            <a:off x="6283366" y="3931940"/>
            <a:ext cx="397758" cy="397768"/>
          </a:xfrm>
          <a:prstGeom prst="ellipse">
            <a:avLst/>
          </a:prstGeom>
          <a:solidFill>
            <a:srgbClr val="DA1B2E"/>
          </a:solidFill>
          <a:ln/>
        </p:spPr>
      </p:sp>
      <p:pic>
        <p:nvPicPr>
          <p:cNvPr id="30" name="Image 5" descr="preencoded.png"/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6392703" y="4041279"/>
            <a:ext cx="178986" cy="178991"/>
          </a:xfrm>
          <a:prstGeom prst="rect">
            <a:avLst/>
          </a:prstGeom>
        </p:spPr>
      </p:pic>
      <p:sp>
        <p:nvSpPr>
          <p:cNvPr id="31" name="Text 23"/>
          <p:cNvSpPr/>
          <p:nvPr/>
        </p:nvSpPr>
        <p:spPr>
          <a:xfrm>
            <a:off x="6283366" y="4427041"/>
            <a:ext cx="5137518" cy="2179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3B3535"/>
                </a:solidFill>
                <a:latin typeface="Sora SemiBold" pitchFamily="34" charset="0"/>
                <a:ea typeface="Sora SemiBold" pitchFamily="34" charset="-122"/>
                <a:cs typeface="Sora SemiBold" pitchFamily="34" charset="-120"/>
              </a:rPr>
              <a:t>Risk Detection System</a:t>
            </a:r>
            <a:endParaRPr lang="en-US" sz="1350" dirty="0"/>
          </a:p>
        </p:txBody>
      </p:sp>
      <p:sp>
        <p:nvSpPr>
          <p:cNvPr id="32" name="Text 24"/>
          <p:cNvSpPr/>
          <p:nvPr/>
        </p:nvSpPr>
        <p:spPr>
          <a:xfrm>
            <a:off x="6283366" y="4703366"/>
            <a:ext cx="5137518" cy="1838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10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Early warning engine for inflation and employment risks.</a:t>
            </a:r>
            <a:endParaRPr lang="en-US" sz="1000" dirty="0"/>
          </a:p>
        </p:txBody>
      </p:sp>
      <p:sp>
        <p:nvSpPr>
          <p:cNvPr id="33" name="Shape 25"/>
          <p:cNvSpPr/>
          <p:nvPr/>
        </p:nvSpPr>
        <p:spPr>
          <a:xfrm>
            <a:off x="631908" y="5123458"/>
            <a:ext cx="5415224" cy="1233091"/>
          </a:xfrm>
          <a:prstGeom prst="roundRect">
            <a:avLst>
              <a:gd name="adj" fmla="val 4516"/>
            </a:avLst>
          </a:prstGeom>
          <a:solidFill>
            <a:srgbClr val="F9D2D6"/>
          </a:solidFill>
          <a:ln w="6350">
            <a:solidFill>
              <a:srgbClr val="DFB8BC"/>
            </a:solidFill>
            <a:prstDash val="solid"/>
          </a:ln>
        </p:spPr>
      </p:sp>
      <p:sp>
        <p:nvSpPr>
          <p:cNvPr id="34" name="Shape 26"/>
          <p:cNvSpPr/>
          <p:nvPr/>
        </p:nvSpPr>
        <p:spPr>
          <a:xfrm>
            <a:off x="770811" y="5262364"/>
            <a:ext cx="397758" cy="397768"/>
          </a:xfrm>
          <a:prstGeom prst="ellipse">
            <a:avLst/>
          </a:prstGeom>
          <a:solidFill>
            <a:srgbClr val="DA1B2E"/>
          </a:solidFill>
          <a:ln/>
        </p:spPr>
      </p:sp>
      <p:pic>
        <p:nvPicPr>
          <p:cNvPr id="35" name="Image 6" descr="preencoded.png"/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880148" y="5371703"/>
            <a:ext cx="178986" cy="178991"/>
          </a:xfrm>
          <a:prstGeom prst="rect">
            <a:avLst/>
          </a:prstGeom>
        </p:spPr>
      </p:pic>
      <p:sp>
        <p:nvSpPr>
          <p:cNvPr id="36" name="Text 27"/>
          <p:cNvSpPr/>
          <p:nvPr/>
        </p:nvSpPr>
        <p:spPr>
          <a:xfrm>
            <a:off x="770811" y="5757466"/>
            <a:ext cx="5137418" cy="2179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3B3535"/>
                </a:solidFill>
                <a:latin typeface="Sora SemiBold" pitchFamily="34" charset="0"/>
                <a:ea typeface="Sora SemiBold" pitchFamily="34" charset="-122"/>
                <a:cs typeface="Sora SemiBold" pitchFamily="34" charset="-120"/>
              </a:rPr>
              <a:t>Correlation Analysis</a:t>
            </a:r>
            <a:endParaRPr lang="en-US" sz="1350" dirty="0"/>
          </a:p>
        </p:txBody>
      </p:sp>
      <p:sp>
        <p:nvSpPr>
          <p:cNvPr id="37" name="Text 28"/>
          <p:cNvSpPr/>
          <p:nvPr/>
        </p:nvSpPr>
        <p:spPr>
          <a:xfrm>
            <a:off x="770811" y="6033790"/>
            <a:ext cx="5137418" cy="1838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10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Inter-indicator relationship mapping for deeper insights.</a:t>
            </a:r>
            <a:endParaRPr lang="en-US" sz="1000" dirty="0"/>
          </a:p>
        </p:txBody>
      </p:sp>
      <p:sp>
        <p:nvSpPr>
          <p:cNvPr id="38" name="Shape 29"/>
          <p:cNvSpPr/>
          <p:nvPr/>
        </p:nvSpPr>
        <p:spPr>
          <a:xfrm>
            <a:off x="6144463" y="5123458"/>
            <a:ext cx="5415323" cy="1233091"/>
          </a:xfrm>
          <a:prstGeom prst="roundRect">
            <a:avLst>
              <a:gd name="adj" fmla="val 4516"/>
            </a:avLst>
          </a:prstGeom>
          <a:solidFill>
            <a:srgbClr val="F9D2D6"/>
          </a:solidFill>
          <a:ln w="6350">
            <a:solidFill>
              <a:srgbClr val="DFB8BC"/>
            </a:solidFill>
            <a:prstDash val="solid"/>
          </a:ln>
        </p:spPr>
      </p:sp>
      <p:sp>
        <p:nvSpPr>
          <p:cNvPr id="39" name="Shape 30"/>
          <p:cNvSpPr/>
          <p:nvPr/>
        </p:nvSpPr>
        <p:spPr>
          <a:xfrm>
            <a:off x="6283366" y="5262364"/>
            <a:ext cx="397758" cy="397768"/>
          </a:xfrm>
          <a:prstGeom prst="ellipse">
            <a:avLst/>
          </a:prstGeom>
          <a:solidFill>
            <a:srgbClr val="DA1B2E"/>
          </a:solidFill>
          <a:ln/>
        </p:spPr>
      </p:sp>
      <p:pic>
        <p:nvPicPr>
          <p:cNvPr id="40" name="Image 7" descr="preencoded.png"/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6392703" y="5371703"/>
            <a:ext cx="178986" cy="178991"/>
          </a:xfrm>
          <a:prstGeom prst="rect">
            <a:avLst/>
          </a:prstGeom>
        </p:spPr>
      </p:pic>
      <p:sp>
        <p:nvSpPr>
          <p:cNvPr id="41" name="Text 31"/>
          <p:cNvSpPr/>
          <p:nvPr/>
        </p:nvSpPr>
        <p:spPr>
          <a:xfrm>
            <a:off x="6283366" y="5757466"/>
            <a:ext cx="5137518" cy="2179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3B3535"/>
                </a:solidFill>
                <a:latin typeface="Sora SemiBold" pitchFamily="34" charset="0"/>
                <a:ea typeface="Sora SemiBold" pitchFamily="34" charset="-122"/>
                <a:cs typeface="Sora SemiBold" pitchFamily="34" charset="-120"/>
              </a:rPr>
              <a:t>Interactive Dashboard</a:t>
            </a:r>
            <a:endParaRPr lang="en-US" sz="1350" dirty="0"/>
          </a:p>
        </p:txBody>
      </p:sp>
      <p:sp>
        <p:nvSpPr>
          <p:cNvPr id="42" name="Text 32"/>
          <p:cNvSpPr/>
          <p:nvPr/>
        </p:nvSpPr>
        <p:spPr>
          <a:xfrm>
            <a:off x="6283366" y="6033790"/>
            <a:ext cx="5137518" cy="1838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10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Streamlit-powered real-time visual exploration of all outputs.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31908" y="532904"/>
            <a:ext cx="10927878" cy="4639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900" dirty="0">
                <a:solidFill>
                  <a:srgbClr val="1F1E1E"/>
                </a:solidFill>
                <a:latin typeface="Sora SemiBold" pitchFamily="34" charset="0"/>
                <a:ea typeface="Sora SemiBold" pitchFamily="34" charset="-122"/>
                <a:cs typeface="Sora SemiBold" pitchFamily="34" charset="-120"/>
              </a:rPr>
              <a:t>Results &amp; System Interface</a:t>
            </a:r>
            <a:endParaRPr lang="en-US" sz="29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1908" y="1286073"/>
            <a:ext cx="5291898" cy="380920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31908" y="5219204"/>
            <a:ext cx="5901483" cy="2010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9000"/>
              </a:lnSpc>
              <a:buNone/>
            </a:pPr>
            <a:r>
              <a:rPr lang="en-US" sz="1100" i="1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Illustrative GDP &amp; Inflation trend — actual outputs generated by the system.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6274238" y="1272282"/>
            <a:ext cx="5291898" cy="2319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dirty="0">
                <a:solidFill>
                  <a:srgbClr val="1F1E1E"/>
                </a:solidFill>
                <a:latin typeface="Sora SemiBold" pitchFamily="34" charset="0"/>
                <a:ea typeface="Sora SemiBold" pitchFamily="34" charset="-122"/>
                <a:cs typeface="Sora SemiBold" pitchFamily="34" charset="-120"/>
              </a:rPr>
              <a:t>Outputs Generated</a:t>
            </a:r>
            <a:endParaRPr lang="en-US" sz="1450" dirty="0"/>
          </a:p>
        </p:txBody>
      </p:sp>
      <p:sp>
        <p:nvSpPr>
          <p:cNvPr id="6" name="Shape 3"/>
          <p:cNvSpPr/>
          <p:nvPr/>
        </p:nvSpPr>
        <p:spPr>
          <a:xfrm>
            <a:off x="6274238" y="1628180"/>
            <a:ext cx="317294" cy="317302"/>
          </a:xfrm>
          <a:prstGeom prst="roundRect">
            <a:avLst>
              <a:gd name="adj" fmla="val 18671"/>
            </a:avLst>
          </a:prstGeom>
          <a:solidFill>
            <a:srgbClr val="F9D2D6"/>
          </a:solidFill>
          <a:ln w="6350">
            <a:solidFill>
              <a:srgbClr val="DFB8BC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321565" y="1647676"/>
            <a:ext cx="222641" cy="27830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750" dirty="0">
                <a:solidFill>
                  <a:srgbClr val="3B3535"/>
                </a:solidFill>
                <a:latin typeface="Sora SemiBold" pitchFamily="34" charset="0"/>
                <a:ea typeface="Sora SemiBold" pitchFamily="34" charset="-122"/>
                <a:cs typeface="Sora SemiBold" pitchFamily="34" charset="-120"/>
              </a:rPr>
              <a:t>1</a:t>
            </a:r>
            <a:endParaRPr lang="en-US" sz="1750" dirty="0"/>
          </a:p>
        </p:txBody>
      </p:sp>
      <p:sp>
        <p:nvSpPr>
          <p:cNvPr id="8" name="Text 5"/>
          <p:cNvSpPr/>
          <p:nvPr/>
        </p:nvSpPr>
        <p:spPr>
          <a:xfrm>
            <a:off x="6701662" y="1676598"/>
            <a:ext cx="4864474" cy="2319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dirty="0">
                <a:solidFill>
                  <a:srgbClr val="3B3535"/>
                </a:solidFill>
                <a:latin typeface="Sora SemiBold" pitchFamily="34" charset="0"/>
                <a:ea typeface="Sora SemiBold" pitchFamily="34" charset="-122"/>
                <a:cs typeface="Sora SemiBold" pitchFamily="34" charset="-120"/>
              </a:rPr>
              <a:t>Economic Trend Forecasts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6701662" y="2018705"/>
            <a:ext cx="4864474" cy="2010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9000"/>
              </a:lnSpc>
              <a:buNone/>
            </a:pPr>
            <a:r>
              <a:rPr lang="en-US" sz="11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Multi-year projections for GDP, inflation, and unemployment.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6274238" y="2440087"/>
            <a:ext cx="317294" cy="317302"/>
          </a:xfrm>
          <a:prstGeom prst="roundRect">
            <a:avLst>
              <a:gd name="adj" fmla="val 18671"/>
            </a:avLst>
          </a:prstGeom>
          <a:solidFill>
            <a:srgbClr val="F9D2D6"/>
          </a:solidFill>
          <a:ln w="6350">
            <a:solidFill>
              <a:srgbClr val="DFB8BC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321565" y="2459583"/>
            <a:ext cx="222641" cy="27830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750" dirty="0">
                <a:solidFill>
                  <a:srgbClr val="3B3535"/>
                </a:solidFill>
                <a:latin typeface="Sora SemiBold" pitchFamily="34" charset="0"/>
                <a:ea typeface="Sora SemiBold" pitchFamily="34" charset="-122"/>
                <a:cs typeface="Sora SemiBold" pitchFamily="34" charset="-120"/>
              </a:rPr>
              <a:t>2</a:t>
            </a:r>
            <a:endParaRPr lang="en-US" sz="1750" dirty="0"/>
          </a:p>
        </p:txBody>
      </p:sp>
      <p:sp>
        <p:nvSpPr>
          <p:cNvPr id="12" name="Text 9"/>
          <p:cNvSpPr/>
          <p:nvPr/>
        </p:nvSpPr>
        <p:spPr>
          <a:xfrm>
            <a:off x="6701662" y="2488505"/>
            <a:ext cx="4864474" cy="2319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dirty="0">
                <a:solidFill>
                  <a:srgbClr val="3B3535"/>
                </a:solidFill>
                <a:latin typeface="Sora SemiBold" pitchFamily="34" charset="0"/>
                <a:ea typeface="Sora SemiBold" pitchFamily="34" charset="-122"/>
                <a:cs typeface="Sora SemiBold" pitchFamily="34" charset="-120"/>
              </a:rPr>
              <a:t>Economic Health Assessment</a:t>
            </a:r>
            <a:endParaRPr lang="en-US" sz="1450" dirty="0"/>
          </a:p>
        </p:txBody>
      </p:sp>
      <p:sp>
        <p:nvSpPr>
          <p:cNvPr id="13" name="Text 10"/>
          <p:cNvSpPr/>
          <p:nvPr/>
        </p:nvSpPr>
        <p:spPr>
          <a:xfrm>
            <a:off x="6701662" y="2830612"/>
            <a:ext cx="4864474" cy="2010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9000"/>
              </a:lnSpc>
              <a:buNone/>
            </a:pPr>
            <a:r>
              <a:rPr lang="en-US" sz="11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EHI scores classifying economic conditions over time.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6274238" y="3251994"/>
            <a:ext cx="317294" cy="317302"/>
          </a:xfrm>
          <a:prstGeom prst="roundRect">
            <a:avLst>
              <a:gd name="adj" fmla="val 18671"/>
            </a:avLst>
          </a:prstGeom>
          <a:solidFill>
            <a:srgbClr val="F9D2D6"/>
          </a:solidFill>
          <a:ln w="6350">
            <a:solidFill>
              <a:srgbClr val="DFB8BC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321565" y="3271490"/>
            <a:ext cx="222641" cy="27830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750" dirty="0">
                <a:solidFill>
                  <a:srgbClr val="3B3535"/>
                </a:solidFill>
                <a:latin typeface="Sora SemiBold" pitchFamily="34" charset="0"/>
                <a:ea typeface="Sora SemiBold" pitchFamily="34" charset="-122"/>
                <a:cs typeface="Sora SemiBold" pitchFamily="34" charset="-120"/>
              </a:rPr>
              <a:t>3</a:t>
            </a:r>
            <a:endParaRPr lang="en-US" sz="1750" dirty="0"/>
          </a:p>
        </p:txBody>
      </p:sp>
      <p:sp>
        <p:nvSpPr>
          <p:cNvPr id="16" name="Text 13"/>
          <p:cNvSpPr/>
          <p:nvPr/>
        </p:nvSpPr>
        <p:spPr>
          <a:xfrm>
            <a:off x="6701662" y="3300413"/>
            <a:ext cx="4864474" cy="2319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dirty="0">
                <a:solidFill>
                  <a:srgbClr val="3B3535"/>
                </a:solidFill>
                <a:latin typeface="Sora SemiBold" pitchFamily="34" charset="0"/>
                <a:ea typeface="Sora SemiBold" pitchFamily="34" charset="-122"/>
                <a:cs typeface="Sora SemiBold" pitchFamily="34" charset="-120"/>
              </a:rPr>
              <a:t>Risk Detection Reports</a:t>
            </a:r>
            <a:endParaRPr lang="en-US" sz="1450" dirty="0"/>
          </a:p>
        </p:txBody>
      </p:sp>
      <p:sp>
        <p:nvSpPr>
          <p:cNvPr id="17" name="Text 14"/>
          <p:cNvSpPr/>
          <p:nvPr/>
        </p:nvSpPr>
        <p:spPr>
          <a:xfrm>
            <a:off x="6701662" y="3642519"/>
            <a:ext cx="4864474" cy="2010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9000"/>
              </a:lnSpc>
              <a:buNone/>
            </a:pPr>
            <a:r>
              <a:rPr lang="en-US" sz="11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Automated alerts for inflation and employment risk thresholds.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6274238" y="4063901"/>
            <a:ext cx="317294" cy="317302"/>
          </a:xfrm>
          <a:prstGeom prst="roundRect">
            <a:avLst>
              <a:gd name="adj" fmla="val 18671"/>
            </a:avLst>
          </a:prstGeom>
          <a:solidFill>
            <a:srgbClr val="F9D2D6"/>
          </a:solidFill>
          <a:ln w="6350">
            <a:solidFill>
              <a:srgbClr val="DFB8BC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321565" y="4083397"/>
            <a:ext cx="222641" cy="27830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750" dirty="0">
                <a:solidFill>
                  <a:srgbClr val="3B3535"/>
                </a:solidFill>
                <a:latin typeface="Sora SemiBold" pitchFamily="34" charset="0"/>
                <a:ea typeface="Sora SemiBold" pitchFamily="34" charset="-122"/>
                <a:cs typeface="Sora SemiBold" pitchFamily="34" charset="-120"/>
              </a:rPr>
              <a:t>4</a:t>
            </a:r>
            <a:endParaRPr lang="en-US" sz="1750" dirty="0"/>
          </a:p>
        </p:txBody>
      </p:sp>
      <p:sp>
        <p:nvSpPr>
          <p:cNvPr id="20" name="Text 17"/>
          <p:cNvSpPr/>
          <p:nvPr/>
        </p:nvSpPr>
        <p:spPr>
          <a:xfrm>
            <a:off x="6701662" y="4112320"/>
            <a:ext cx="4864474" cy="2319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dirty="0">
                <a:solidFill>
                  <a:srgbClr val="3B3535"/>
                </a:solidFill>
                <a:latin typeface="Sora SemiBold" pitchFamily="34" charset="0"/>
                <a:ea typeface="Sora SemiBold" pitchFamily="34" charset="-122"/>
                <a:cs typeface="Sora SemiBold" pitchFamily="34" charset="-120"/>
              </a:rPr>
              <a:t>Correlation Matrix</a:t>
            </a:r>
            <a:endParaRPr lang="en-US" sz="1450" dirty="0"/>
          </a:p>
        </p:txBody>
      </p:sp>
      <p:sp>
        <p:nvSpPr>
          <p:cNvPr id="21" name="Text 18"/>
          <p:cNvSpPr/>
          <p:nvPr/>
        </p:nvSpPr>
        <p:spPr>
          <a:xfrm>
            <a:off x="6701662" y="4454426"/>
            <a:ext cx="4864474" cy="2010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9000"/>
              </a:lnSpc>
              <a:buNone/>
            </a:pPr>
            <a:r>
              <a:rPr lang="en-US" sz="11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Inter-indicator relationship analysis for strategic insight.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631908" y="5643265"/>
            <a:ext cx="10927878" cy="681732"/>
          </a:xfrm>
          <a:prstGeom prst="roundRect">
            <a:avLst>
              <a:gd name="adj" fmla="val 8690"/>
            </a:avLst>
          </a:prstGeom>
          <a:solidFill>
            <a:srgbClr val="F9D2D6"/>
          </a:solidFill>
          <a:ln/>
        </p:spPr>
      </p:sp>
      <p:pic>
        <p:nvPicPr>
          <p:cNvPr id="2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2895" y="5804892"/>
            <a:ext cx="176307" cy="140990"/>
          </a:xfrm>
          <a:prstGeom prst="rect">
            <a:avLst/>
          </a:prstGeom>
        </p:spPr>
      </p:pic>
      <p:sp>
        <p:nvSpPr>
          <p:cNvPr id="24" name="Text 20"/>
          <p:cNvSpPr/>
          <p:nvPr/>
        </p:nvSpPr>
        <p:spPr>
          <a:xfrm>
            <a:off x="1090188" y="5788620"/>
            <a:ext cx="10328612" cy="4020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9000"/>
              </a:lnSpc>
              <a:buNone/>
            </a:pPr>
            <a:r>
              <a:rPr lang="en-US" sz="1100" b="1" dirty="0">
                <a:solidFill>
                  <a:srgbClr val="000000"/>
                </a:solidFill>
                <a:latin typeface="Sora Bold" pitchFamily="34" charset="0"/>
                <a:ea typeface="Sora Bold" pitchFamily="34" charset="-122"/>
                <a:cs typeface="Sora Bold" pitchFamily="34" charset="-120"/>
              </a:rPr>
              <a:t>System Interface:</a:t>
            </a:r>
            <a:r>
              <a:rPr lang="en-US" sz="1100" dirty="0">
                <a:solidFill>
                  <a:srgbClr val="000000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 Insert Streamlit Dashboard Screenshots Here — 3 to 4 annotated screenshots recommended for live demo or project submission.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31908" y="506710"/>
            <a:ext cx="10927878" cy="5196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250" dirty="0">
                <a:solidFill>
                  <a:srgbClr val="1F1E1E"/>
                </a:solidFill>
                <a:latin typeface="Sora SemiBold" pitchFamily="34" charset="0"/>
                <a:ea typeface="Sora SemiBold" pitchFamily="34" charset="-122"/>
                <a:cs typeface="Sora SemiBold" pitchFamily="34" charset="-120"/>
              </a:rPr>
              <a:t>Future Scope &amp; Conclusion</a:t>
            </a:r>
            <a:endParaRPr lang="en-US" sz="3250" dirty="0"/>
          </a:p>
        </p:txBody>
      </p:sp>
      <p:sp>
        <p:nvSpPr>
          <p:cNvPr id="3" name="Text 1"/>
          <p:cNvSpPr/>
          <p:nvPr/>
        </p:nvSpPr>
        <p:spPr>
          <a:xfrm>
            <a:off x="631908" y="1081584"/>
            <a:ext cx="10927878" cy="2597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1F1E1E"/>
                </a:solidFill>
                <a:latin typeface="Sora SemiBold" pitchFamily="34" charset="0"/>
                <a:ea typeface="Sora SemiBold" pitchFamily="34" charset="-122"/>
                <a:cs typeface="Sora SemiBold" pitchFamily="34" charset="-120"/>
              </a:rPr>
              <a:t>Future Enhancements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631908" y="1548606"/>
            <a:ext cx="315905" cy="19744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01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31908" y="1798042"/>
            <a:ext cx="5394785" cy="19050"/>
          </a:xfrm>
          <a:prstGeom prst="rect">
            <a:avLst/>
          </a:prstGeom>
          <a:solidFill>
            <a:srgbClr val="DA1B2E"/>
          </a:solidFill>
          <a:ln/>
        </p:spPr>
      </p:sp>
      <p:sp>
        <p:nvSpPr>
          <p:cNvPr id="6" name="Text 4"/>
          <p:cNvSpPr/>
          <p:nvPr/>
        </p:nvSpPr>
        <p:spPr>
          <a:xfrm>
            <a:off x="631908" y="1915120"/>
            <a:ext cx="5394785" cy="2597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3B3535"/>
                </a:solidFill>
                <a:latin typeface="Sora SemiBold" pitchFamily="34" charset="0"/>
                <a:ea typeface="Sora SemiBold" pitchFamily="34" charset="-122"/>
                <a:cs typeface="Sora SemiBold" pitchFamily="34" charset="-120"/>
              </a:rPr>
              <a:t>Real-Time Data Integration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31908" y="2257723"/>
            <a:ext cx="5394785" cy="2369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2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Live economic feeds for up-to-date forecasting.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164902" y="1548606"/>
            <a:ext cx="315905" cy="19744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02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164902" y="1798042"/>
            <a:ext cx="5394885" cy="19050"/>
          </a:xfrm>
          <a:prstGeom prst="rect">
            <a:avLst/>
          </a:prstGeom>
          <a:solidFill>
            <a:srgbClr val="DA1B2E"/>
          </a:solidFill>
          <a:ln/>
        </p:spPr>
      </p:sp>
      <p:sp>
        <p:nvSpPr>
          <p:cNvPr id="10" name="Text 8"/>
          <p:cNvSpPr/>
          <p:nvPr/>
        </p:nvSpPr>
        <p:spPr>
          <a:xfrm>
            <a:off x="6164902" y="1915120"/>
            <a:ext cx="5394885" cy="2597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3B3535"/>
                </a:solidFill>
                <a:latin typeface="Sora SemiBold" pitchFamily="34" charset="0"/>
                <a:ea typeface="Sora SemiBold" pitchFamily="34" charset="-122"/>
                <a:cs typeface="Sora SemiBold" pitchFamily="34" charset="-120"/>
              </a:rPr>
              <a:t>Deep Learning Models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164902" y="2257723"/>
            <a:ext cx="5394885" cy="2369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2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LSTM and Transformer architectures for higher accuracy.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31908" y="2751336"/>
            <a:ext cx="315905" cy="19744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03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31908" y="3000772"/>
            <a:ext cx="5394785" cy="19050"/>
          </a:xfrm>
          <a:prstGeom prst="rect">
            <a:avLst/>
          </a:prstGeom>
          <a:solidFill>
            <a:srgbClr val="DA1B2E"/>
          </a:solidFill>
          <a:ln/>
        </p:spPr>
      </p:sp>
      <p:sp>
        <p:nvSpPr>
          <p:cNvPr id="14" name="Text 12"/>
          <p:cNvSpPr/>
          <p:nvPr/>
        </p:nvSpPr>
        <p:spPr>
          <a:xfrm>
            <a:off x="631908" y="3117850"/>
            <a:ext cx="5394785" cy="2597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3B3535"/>
                </a:solidFill>
                <a:latin typeface="Sora SemiBold" pitchFamily="34" charset="0"/>
                <a:ea typeface="Sora SemiBold" pitchFamily="34" charset="-122"/>
                <a:cs typeface="Sora SemiBold" pitchFamily="34" charset="-120"/>
              </a:rPr>
              <a:t>Global Economic Comparison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31908" y="3460452"/>
            <a:ext cx="5394785" cy="2369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2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Cross-country benchmarking and peer analysis.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164902" y="2751336"/>
            <a:ext cx="315905" cy="19744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04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164902" y="3000772"/>
            <a:ext cx="5394885" cy="19050"/>
          </a:xfrm>
          <a:prstGeom prst="rect">
            <a:avLst/>
          </a:prstGeom>
          <a:solidFill>
            <a:srgbClr val="DA1B2E"/>
          </a:solidFill>
          <a:ln/>
        </p:spPr>
      </p:sp>
      <p:sp>
        <p:nvSpPr>
          <p:cNvPr id="18" name="Text 16"/>
          <p:cNvSpPr/>
          <p:nvPr/>
        </p:nvSpPr>
        <p:spPr>
          <a:xfrm>
            <a:off x="6164902" y="3117850"/>
            <a:ext cx="5394885" cy="2597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3B3535"/>
                </a:solidFill>
                <a:latin typeface="Sora SemiBold" pitchFamily="34" charset="0"/>
                <a:ea typeface="Sora SemiBold" pitchFamily="34" charset="-122"/>
                <a:cs typeface="Sora SemiBold" pitchFamily="34" charset="-120"/>
              </a:rPr>
              <a:t>Policy Recommendation Engine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164902" y="3460452"/>
            <a:ext cx="5394885" cy="2369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2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AI-generated, evidence-based policy suggestions.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31908" y="3954066"/>
            <a:ext cx="315905" cy="19744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05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31908" y="4203502"/>
            <a:ext cx="5394785" cy="19050"/>
          </a:xfrm>
          <a:prstGeom prst="rect">
            <a:avLst/>
          </a:prstGeom>
          <a:solidFill>
            <a:srgbClr val="DA1B2E"/>
          </a:solidFill>
          <a:ln/>
        </p:spPr>
      </p:sp>
      <p:sp>
        <p:nvSpPr>
          <p:cNvPr id="22" name="Text 20"/>
          <p:cNvSpPr/>
          <p:nvPr/>
        </p:nvSpPr>
        <p:spPr>
          <a:xfrm>
            <a:off x="631908" y="4320580"/>
            <a:ext cx="5394785" cy="2597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3B3535"/>
                </a:solidFill>
                <a:latin typeface="Sora SemiBold" pitchFamily="34" charset="0"/>
                <a:ea typeface="Sora SemiBold" pitchFamily="34" charset="-122"/>
                <a:cs typeface="Sora SemiBold" pitchFamily="34" charset="-120"/>
              </a:rPr>
              <a:t>Automated Report Generation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31908" y="4663182"/>
            <a:ext cx="5394785" cy="2369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2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Scheduled, shareable intelligence briefs.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164902" y="3954066"/>
            <a:ext cx="315905" cy="19744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06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164902" y="4203502"/>
            <a:ext cx="5394885" cy="19050"/>
          </a:xfrm>
          <a:prstGeom prst="rect">
            <a:avLst/>
          </a:prstGeom>
          <a:solidFill>
            <a:srgbClr val="DA1B2E"/>
          </a:solidFill>
          <a:ln/>
        </p:spPr>
      </p:sp>
      <p:sp>
        <p:nvSpPr>
          <p:cNvPr id="26" name="Text 24"/>
          <p:cNvSpPr/>
          <p:nvPr/>
        </p:nvSpPr>
        <p:spPr>
          <a:xfrm>
            <a:off x="6164902" y="4320580"/>
            <a:ext cx="5394885" cy="2597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3B3535"/>
                </a:solidFill>
                <a:latin typeface="Sora SemiBold" pitchFamily="34" charset="0"/>
                <a:ea typeface="Sora SemiBold" pitchFamily="34" charset="-122"/>
                <a:cs typeface="Sora SemiBold" pitchFamily="34" charset="-120"/>
              </a:rPr>
              <a:t>Explainable AI (XAI)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6164902" y="4663182"/>
            <a:ext cx="5394885" cy="2369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2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Transparent, interpretable model decisions for stakeholders.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868837" y="5329535"/>
            <a:ext cx="10690950" cy="8662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5000"/>
              </a:lnSpc>
              <a:spcAft>
                <a:spcPts val="1200"/>
              </a:spcAft>
              <a:buNone/>
            </a:pPr>
            <a:r>
              <a:rPr lang="en-US" sz="1200" b="1" dirty="0">
                <a:solidFill>
                  <a:srgbClr val="3B3535"/>
                </a:solidFill>
                <a:latin typeface="Sora Bold" pitchFamily="34" charset="0"/>
                <a:ea typeface="Sora Bold" pitchFamily="34" charset="-122"/>
                <a:cs typeface="Sora Bold" pitchFamily="34" charset="-120"/>
              </a:rPr>
              <a:t>"Transforming Historical Economic Data into Actionable Intelligence Through AI."</a:t>
            </a:r>
            <a:endParaRPr lang="en-US" sz="120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2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This system successfully combines machine learning, forecasting, and economic analysis to enable trend prediction, early risk identification, and data-driven policy support for India's economic future.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631908" y="5174059"/>
            <a:ext cx="19050" cy="1177230"/>
          </a:xfrm>
          <a:prstGeom prst="roundRect">
            <a:avLst>
              <a:gd name="adj" fmla="val 49999"/>
            </a:avLst>
          </a:prstGeom>
          <a:solidFill>
            <a:srgbClr val="DA1B2E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47</TotalTime>
  <Words>635</Words>
  <Application>Microsoft Office PowerPoint</Application>
  <PresentationFormat>Widescreen</PresentationFormat>
  <Paragraphs>132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7" baseType="lpstr">
      <vt:lpstr>Calibri</vt:lpstr>
      <vt:lpstr>Arial</vt:lpstr>
      <vt:lpstr>Sora Bold</vt:lpstr>
      <vt:lpstr>Sora SemiBold</vt:lpstr>
      <vt:lpstr>Sora Light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Sufia Sayyed</dc:creator>
  <cp:lastModifiedBy>Sufia Sayyed</cp:lastModifiedBy>
  <cp:revision>9</cp:revision>
  <dcterms:created xsi:type="dcterms:W3CDTF">2026-09-15T15:30:56Z</dcterms:created>
  <dcterms:modified xsi:type="dcterms:W3CDTF">2026-09-15T16:31:04Z</dcterms:modified>
</cp:coreProperties>
</file>